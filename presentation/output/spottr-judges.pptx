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7cd4ff33ff94ec2" /><Relationship Type="http://schemas.openxmlformats.org/officeDocument/2006/relationships/extended-properties" Target="/docProps/app.xml" Id="R7d5be79880184d95" /><Relationship Type="http://schemas.openxmlformats.org/officeDocument/2006/relationships/officeDocument" Target="/ppt/presentation.xml" Id="Rb5404b6ec0bb4891" /></Relationships>
</file>

<file path=ppt/presentation.xml><?xml version="1.0" encoding="utf-8"?>
<p:presentation xmlns:p="http://schemas.openxmlformats.org/presentationml/2006/main">
  <p:sldMasterIdLst>
    <p:sldMasterId xmlns:r="http://schemas.openxmlformats.org/officeDocument/2006/relationships" id="2147483648" r:id="R8c238501e6224f15"/>
  </p:sldMasterIdLst>
  <p:notesMasterIdLst>
    <p:notesMasterId xmlns:r="http://schemas.openxmlformats.org/officeDocument/2006/relationships" r:id="Rd346478e06844cf9"/>
  </p:notesMasterIdLst>
  <p:sldIdLst>
    <p:sldId xmlns:r="http://schemas.openxmlformats.org/officeDocument/2006/relationships" id="256" r:id="Rf8ea162f68f84a08"/>
    <p:sldId xmlns:r="http://schemas.openxmlformats.org/officeDocument/2006/relationships" id="257" r:id="R094a04d0245f42a3"/>
    <p:sldId xmlns:r="http://schemas.openxmlformats.org/officeDocument/2006/relationships" id="258" r:id="Ra3aab8388f5d4453"/>
    <p:sldId xmlns:r="http://schemas.openxmlformats.org/officeDocument/2006/relationships" id="259" r:id="Rbf4482fa68384bd9"/>
    <p:sldId xmlns:r="http://schemas.openxmlformats.org/officeDocument/2006/relationships" id="260" r:id="R93a20c845f584577"/>
    <p:sldId xmlns:r="http://schemas.openxmlformats.org/officeDocument/2006/relationships" id="261" r:id="R7e6ddc3166a34a1e"/>
    <p:sldId xmlns:r="http://schemas.openxmlformats.org/officeDocument/2006/relationships" id="262" r:id="R91a034eef7d54ce5"/>
    <p:sldId xmlns:r="http://schemas.openxmlformats.org/officeDocument/2006/relationships" id="263" r:id="R7e9da2584a774037"/>
    <p:sldId xmlns:r="http://schemas.openxmlformats.org/officeDocument/2006/relationships" id="264" r:id="R08d4c6cd31024e95"/>
    <p:sldId xmlns:r="http://schemas.openxmlformats.org/officeDocument/2006/relationships" id="265" r:id="Re302c357960f40f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d3f72cfc614e45" /><Relationship Type="http://schemas.openxmlformats.org/officeDocument/2006/relationships/slideMaster" Target="/ppt/slideMasters/slideMaster1.xml" Id="R8c238501e6224f15" /><Relationship Type="http://schemas.openxmlformats.org/officeDocument/2006/relationships/notesMaster" Target="/ppt/notesMasters/notesMaster1.xml" Id="Rd346478e06844cf9" /><Relationship Type="http://schemas.openxmlformats.org/officeDocument/2006/relationships/presProps" Target="/ppt/presProps.xml" Id="R1911acbf1cd44ed0" /><Relationship Type="http://schemas.openxmlformats.org/officeDocument/2006/relationships/tableStyles" Target="/ppt/tableStyles.xml" Id="R85cd6e5bf8904f64" /><Relationship Type="http://schemas.openxmlformats.org/officeDocument/2006/relationships/slide" Target="/ppt/slides/slide1.xml" Id="Rf8ea162f68f84a08" /><Relationship Type="http://schemas.openxmlformats.org/officeDocument/2006/relationships/slide" Target="/ppt/slides/slide2.xml" Id="R094a04d0245f42a3" /><Relationship Type="http://schemas.openxmlformats.org/officeDocument/2006/relationships/slide" Target="/ppt/slides/slide3.xml" Id="Ra3aab8388f5d4453" /><Relationship Type="http://schemas.openxmlformats.org/officeDocument/2006/relationships/slide" Target="/ppt/slides/slide4.xml" Id="Rbf4482fa68384bd9" /><Relationship Type="http://schemas.openxmlformats.org/officeDocument/2006/relationships/slide" Target="/ppt/slides/slide5.xml" Id="R93a20c845f584577" /><Relationship Type="http://schemas.openxmlformats.org/officeDocument/2006/relationships/slide" Target="/ppt/slides/slide6.xml" Id="R7e6ddc3166a34a1e" /><Relationship Type="http://schemas.openxmlformats.org/officeDocument/2006/relationships/slide" Target="/ppt/slides/slide7.xml" Id="R91a034eef7d54ce5" /><Relationship Type="http://schemas.openxmlformats.org/officeDocument/2006/relationships/slide" Target="/ppt/slides/slide8.xml" Id="R7e9da2584a774037" /><Relationship Type="http://schemas.openxmlformats.org/officeDocument/2006/relationships/slide" Target="/ppt/slides/slide9.xml" Id="R08d4c6cd31024e95" /><Relationship Type="http://schemas.openxmlformats.org/officeDocument/2006/relationships/slide" Target="/ppt/slides/slide10.xml" Id="Re302c357960f40f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8d5bd89fa9942c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a26790c0a214924" /><Relationship Type="http://schemas.openxmlformats.org/officeDocument/2006/relationships/notesMaster" Target="/ppt/notesMasters/notesMaster1.xml" Id="Rab5bed2405ee4f28" /></Relationships>
</file>

<file path=ppt/notesSlides/_rels/notesSlide2.xml.rels>&#65279;<?xml version="1.0" encoding="utf-8"?><Relationships xmlns="http://schemas.openxmlformats.org/package/2006/relationships"><Relationship Type="http://schemas.openxmlformats.org/officeDocument/2006/relationships/slide" Target="/ppt/slides/slide2.xml" Id="Rb6a64e96af6c4f60" /><Relationship Type="http://schemas.openxmlformats.org/officeDocument/2006/relationships/notesMaster" Target="/ppt/notesMasters/notesMaster1.xml" Id="R1dcb00b9dec941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46fc47e9fe48ea" /><Relationship Type="http://schemas.openxmlformats.org/officeDocument/2006/relationships/notesMaster" Target="/ppt/notesMasters/notesMaster1.xml" Id="R6cbad242b280424e" /></Relationships>
</file>

<file path=ppt/notesSlides/_rels/notesSlide4.xml.rels>&#65279;<?xml version="1.0" encoding="utf-8"?><Relationships xmlns="http://schemas.openxmlformats.org/package/2006/relationships"><Relationship Type="http://schemas.openxmlformats.org/officeDocument/2006/relationships/slide" Target="/ppt/slides/slide4.xml" Id="R5539844ad3834755" /><Relationship Type="http://schemas.openxmlformats.org/officeDocument/2006/relationships/notesMaster" Target="/ppt/notesMasters/notesMaster1.xml" Id="Re9964041b2b141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38f52be4cd64ff7" /><Relationship Type="http://schemas.openxmlformats.org/officeDocument/2006/relationships/notesMaster" Target="/ppt/notesMasters/notesMaster1.xml" Id="Rc2dca28c571f45e6"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01693c3473411a" /><Relationship Type="http://schemas.openxmlformats.org/officeDocument/2006/relationships/notesMaster" Target="/ppt/notesMasters/notesMaster1.xml" Id="Rc8f9e2ec29074b35" /></Relationships>
</file>

<file path=ppt/notesSlides/_rels/notesSlide7.xml.rels>&#65279;<?xml version="1.0" encoding="utf-8"?><Relationships xmlns="http://schemas.openxmlformats.org/package/2006/relationships"><Relationship Type="http://schemas.openxmlformats.org/officeDocument/2006/relationships/slide" Target="/ppt/slides/slide7.xml" Id="R0ec7817279a14a0f" /><Relationship Type="http://schemas.openxmlformats.org/officeDocument/2006/relationships/notesMaster" Target="/ppt/notesMasters/notesMaster1.xml" Id="R8d100dfa4aa242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0794c274eea43b0" /><Relationship Type="http://schemas.openxmlformats.org/officeDocument/2006/relationships/notesMaster" Target="/ppt/notesMasters/notesMaster1.xml" Id="R1ecb28e5a12b438d" /></Relationships>
</file>

<file path=ppt/notesSlides/_rels/notesSlide9.xml.rels>&#65279;<?xml version="1.0" encoding="utf-8"?><Relationships xmlns="http://schemas.openxmlformats.org/package/2006/relationships"><Relationship Type="http://schemas.openxmlformats.org/officeDocument/2006/relationships/slide" Target="/ppt/slides/slide9.xml" Id="R8fff7281ed9b44b1" /><Relationship Type="http://schemas.openxmlformats.org/officeDocument/2006/relationships/notesMaster" Target="/ppt/notesMasters/notesMaster1.xml" Id="R906ac3d987774b2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5f5fe10759d4144" /><Relationship Type="http://schemas.openxmlformats.org/officeDocument/2006/relationships/notesMaster" Target="/ppt/notesMasters/notesMaster1.xml" Id="Rfd7adced723f4d7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Spottr is an implemented native bodyweight workout prototype. The motivation is short, timely feedback with an explicit evidence boundary, not a clinical or physical-capacity claim. The image is an actual iPhone simulator screenshot approved by the owner, with missing/unearned progress shown honestly. Evidence snapshot 25 October 2026, 00:36 UTC. Sources: /Users/scsoc/dev/AI PT/docs/app-guide.md; /Users/scsoc/dev/AI PT/docs/integration-readiness.md. Asset source and SHA256 are in presentation/source/assets.json.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25 October 2026, 00:36 UTC. Implemented native flow, not a measured rep-accuracy claim. Manual/timed workouts work without cloud credentials. A real camera path exists for push-ups and squats; physical accuracy/error/abstention evaluation remains pending. Local speech is opt-in, fake-playback tested, with audible phone acceptance pending. Sources: /Users/scsoc/dev/AI PT/docs/app-guide.md; /Users/scsoc/dev/AI PT/docs/voice-feedback.md; /Users/scsoc/dev/AI PT/docs/integration-readiness.md.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25 October 2026, 00:36 UTC. Editable architecture. Phone owns MediaPipe inference, session state and deterministic policy. Watch adapter forwards latest-value timestamped heart/motion signals, not raw lossless vectors. Simulator transport/visual evidence and unsigned device compilation are separate from physical Watch recording. Pi real HTTPS pairing/start/frame/stop tests succeeded, then USB disconnected after around two seconds. No Pi inference or sustained capture is claimed. Sources: /Users/scsoc/dev/AI PT/docs/watch-telemetry.md; /Users/scsoc/dev/AI PT/docs/watch-simulator-acceptance.md; /Users/scsoc/dev/AI PT/hardware/pi/EVIDENCE-2026-10-24.md; /Users/scsoc/dev/AI PT/hardware/pi/NATIVE-HANDOFF.md.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25 October 2026, 00:36 UTC. These are deterministic implementation rules, not calibrated physiological thresholds or a measurement of rep-count accuracy. RepCounter requires confidence&gt;=0.6 and a complete top-bottom-top cycle, resets on gaps&gt;0.75s or nonmonotonic time, uses0.15s zone stability and accepts0.6–15s cycle duration. CoachingPolicy compares a new valid rep with at least five prior valid durations using mean+max(sampleSD,0.25s). Reported discomfort has an exercise-independent stop decision, including manual reps and holds. PR #64 passed 23 native checks, 26 core checks and a Watch simulator build; fake playback does not establish audible acceptance. Stop identity persists across ticks; repeated stop does not cut itself off or replay after background return. Lifecycle invalidation prevents old cues/sensor callbacks entering a new state. Sources: /Users/scsoc/dev/AI PT/Shared/Core/RepCounter.swift; /Users/scsoc/dev/AI PT/Shared/Core/CoachingPolicy.swift; /Users/scsoc/dev/AI PT/docs/watch-telemetry.md; /Users/scsoc/dev/AI PT/docs/voice-feedback.md. Phase images are existing illustrations, not captured workout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25 October 2026, 00:36 UTC. The current app has19 catalogue entries and connected tree/linear options. This diagram shows the exact immediate prerequisite example for pushup: kneePushup and plank. Earlier prerequisites of those nodes are omitted. Node completion needs three qualifying sets across two days after all immediate prerequisites complete. Manual/camera evidence can qualify; video replay and discomfort stops do not. Game points are not physical capacity. Sources: /Users/scsoc/dev/AI PT/Shared/Core/SkillProgress.swift; /Users/scsoc/dev/AI PT/Shared/Core/ExerciseCatalog.swift; /Users/scsoc/dev/AI PT/Native/iOS/SkillsViews.swift; /Users/scsoc/dev/AI PT/docs/app-guide.md. Exercise artwork is existing PNG content, with source hashes in assets.json.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25 October 2026, 00:36 UTC. Local gateway returned actual200 responses for chat/session/weekly/proposal using synthetic inputs. Two signed-simulator native chats reached Google. The second accepted the server-owned capability context: base push-ups and squats support camera tracking; other rep exercises use manual logging and seconds exercises use an active hold timer. After a provider-only maxItems schema projection, three explicit native production actions accepted a proposal, weekly summary and session summary with isolated synthetic inputs. The full original output validator remains enforced. The proposal offered Squats, Knee push-ups and Forearm plank; only Squats was selected, with no approval or saved plan. The reports described one synthetic manual session/set with two Squats reps and no Watch data/profile. Physical phone networking and real-user coaching quality remain pending. Separate native fixture checks exercise structured-response display without a provider call. Automatic facts include selected goals and weekly target, omit optional name, and retain sources. Schema/evidence validation rejects missing/unknown fact IDs; generation identity rejects late context. Plans require explicit user selection/approval and proposed targets never count as completed work. No raw camera video or sensor stream is automatically supplied here. Sources: /Users/scsoc/dev/AI PT/docs/evidence/native-gemini-chat-2026-10-24.md; /Users/scsoc/dev/AI PT/docs/evidence/gemini-structured-compatibility-2026-10-25.md; /Users/scsoc/dev/AI PT/docs/coach-goals.md; /Users/scsoc/dev/AI PT/Shared/Core/CoachContracts.swift; /Users/scsoc/dev/AI PT/Shared/Core/CoachGrounding.swift; /Users/scsoc/dev/AI PT/docs/integration-readiness.md.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25 October 2026, 00:36 UTC. Operational Tiger storage and Snowflake retrospective public-data evaluation are separate. Authenticated Tiger Explorer accepted the exact gateway migration: two empty tables, 15 columns, seven validated PK/CHECK constraints, a one-day scalar hypertable and four usable indexes. No workout or sensor rows were inserted. The separate Node connection still fails strict TLS with SELF_SIGNED_CERT_IN_CHAIN; no gateway ingestion, replay/readback, rollup or standalone prototype database acceptance is claimed. Snowflake pinned public PAMAP2 import/reconciliation and bounded SQL transport are tested offline; dry-run is default and live public-data execution requires explicit opt-in. No actual warehouse statement/result is accepted. Local history and explicit optional sync remain distinct. Sources: /Users/scsoc/dev/AI PT/docs/integration-readiness.md; /Users/scsoc/dev/AI PT/docs/tiger-live-readiness.md; /Users/scsoc/dev/AI PT/docs/ISSUES.md; /Users/scsoc/dev/AI PT/docs/personal-learning.md; /Users/scsoc/dev/AI PT/docs/evidence/tiger-console-2026-10-24.md.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25 October 2026, 00:36 UTC. Actual offline PAMAP2 run2026-10-24T20:43:51–20:43:59UTC. Source: Reiss,A.(2012), PAMAP2 Physical Activity Monitoring, UCI DOI10.24432/C5NW2H, CC BY4.0. Changes: causal features/ridge/figures/evaluation. Official source https://archive.ics.uci.edu/dataset/231/pamap2+physical+activity+monitoring. Train101–105,validation106–107,test108–109. Future target: mean of five observed1s HR-bin means ending10/30s after origin; input history60s. No interpolation, future covariates or test normalization. Validation selected HR-only ridge alpha0.1, not wrist candidates. Test108:80310s and79930s forecasts. Test109:only410s and030s forecasts from84.76s recording. Macro10s gives both participants equal weight despite tiny109 count. At30s only108 contributes. Fixed prequential bias adapter worsened full-run error. No calibrated intervals, Watch transfer, recovery, failure/RIR prediction, or app integration.13 contract tests pass. Sources: /Users/scsoc/dev/AI PT/research/hr_forecast/protocol.json; /Users/scsoc/dev/AI PT/research/hr_forecast/results/report.json; /Users/scsoc/dev/AI PT/research/hr_forecast/results/inventory.json; /Users/scsoc/dev/AI PT/docs/public-data-benchmark.md. Original plots copied unchanged into presentation/assets/ for supplementary evidence. Native chart values round the recorded metrics to three decimal places for editable workbook 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25 October 2026, 00:36 UTC. This table summarizes implementation/fixture/live distinctions. Never claim all sponsors/providers were used. Gemini has four actual synthetic gateway response types, two signed-simulator native chats, and three accepted native production structured actions (proposal/session/week) after the provider-only schema fix. All new inputs were isolated synthetic records. Physical phone networking and personal coaching quality remain pending. The investigation used seven new provider attempts total: initial normal native 502, two diagnostic native HTTP400, one controlled direct HTTP200 and three post-fix native responses accepted by native display validation. No automatic retry or provider fallback was introduced. Voice local Apple synthesis is implemented with fake playback tests; no audible/ElevenLabs run. Tiger authenticated console accepted the gateway schema with zero rows; strict Node TLS remains blocked without trust bypass. Ingestion, readback, rollups and the separate prototype path remain unverified. The revised local landing uses actual white simulator captures and passed four-width, keyboard and reduced-motion checks; no public deployment. Snowflake pinned batch workflow and local ARM64 gateway/Caddy runtime checks passed; no Snowflake live statement or Vultr VM/credit/spend scope; Presage automatic derived-vitals egress unresolved; Delta zero judge requests and missing installation/legal operator gate. Sources: /Users/scsoc/dev/AI PT/docs/evidence/pushup-prototype-integrity-2026-10-24.md; /Users/scsoc/dev/AI PT/docs/evidence/gemini-structured-compatibility-2026-10-25.md; /Users/scsoc/dev/AI PT/docs/snowflake-analytics.md; /Users/scsoc/dev/AI PT/docs/vultr-deployment.md; /Users/scsoc/dev/AI PT/docs/integration-readiness.md; /Users/scsoc/dev/AI PT/docs/ISSUES.md; /Users/scsoc/dev/AI PT/docs/voice-feedback.md; /Users/scsoc/dev/AI PT/docs/presage-integration.md; /Users/scsoc/dev/AI PT/docs/delta-workflow.md; /Users/scsoc/dev/AI PT/docs/tiger-live-readiness.md; /Users/scsoc/dev/AI PT/docs/evidence/tiger-console-2026-10-24.md; /Users/scsoc/dev/AI PT/docs/evidence/landing-browser-2026-10-24.md.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25 October 2026, 00:36 UTC. This is a suggested rehearsal sequence, not an assertion that a rehearsal occurred. Use normal history safely. Open current Today/profile, then tracked workout, pause/end and source-aware record, Skills and explicit Coach controls. If fixtures or a simulator supply values, label them and do not call them live physiological data. Do not spend provider credits as part of rehearsal without the existing approved scope. Show the saved public-data benchmark as offline. Source inventory is current main 0006472; native TestFlight build 3 is frozen at ebbe560737d16ec3c6a72da7436ba25730587e19. Build 0.1 (3) passed signed archive/export and Apple validation at 00:22:55 UTC on 25 October; upload succeeded at 00:27:06 UTC. App Store Connect reports build 3 VALID, internal IN_BETA_TESTING and external IN_BETA_TESTING, with beta submission APPROVED at the 00:36 UTC read-back. Builds 1, 2 and 3 remain internal; the external OxHack group contains builds 3 and 1. Build 2 is not externally submitted. The existing public invitation https://testflight.apple.com/join/f3MhePbf remains enabled for 25 testers. Its public Apple page and both landing HTTPS links were verified; no itms-beta deep link, invitation acceptance or installation was performed. Build 3 includes the rendering/history refactor; the Gemini compatibility correction runs separately on the gateway. All four native Gemini request types accepted real responses with synthetic inputs; physical networking and real-user guidance remain unverified. The unresolved MediaPipe upstream privacy/origin-signature gap is separate from Apple processing. No physical installation or public App Store approval is claimed. Sources: /Users/scsoc/dev/AI PT/docs/evidence/testflight-build-3-2026-10-25.md; /Users/scsoc/dev/AI PT/docs/evidence/testflight-availability-2026-10-25.md; /Users/scsoc/dev/AI PT/docs/testflight.md; /Users/scsoc/dev/AI PT/docs/app-guide.md; /Users/scsoc/dev/AI PT/docs/integration-readiness.md; /Users/scsoc/dev/AI PT/docs/release-readiness.md; /Users/scsoc/dev/AI PT/docs/testflight-provisioning.md.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cc7e2eaa4564a5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dce18f152a64e5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78a336abcf248a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5be6d7c4e81409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17886fcfbb14b6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619b1696b7a48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10DD7F0-BF45-47AB-9335-C164C25CF9B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5FB6FCD-3BD3-49A3-A6B5-D4FF0528A3C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0E38167-1FC7-43F8-9621-1F74E65BF6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FFC6995-A90F-4121-961C-AF4005B0A3A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8D1C770-77FC-4D19-8680-2B142FA356C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2F050EF-147D-4B53-8FDB-9C7E7F74D6F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5F4DEFA-DAA1-4A6A-94DB-C579A5ECAA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14175CC-5F7C-4031-84AF-D96830663D5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844D77-4FB1-4F36-8622-5BD8399F5C2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D671F23-3E64-4799-9C74-574575D5D24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4b17e840274be8" /><Relationship Type="http://schemas.openxmlformats.org/officeDocument/2006/relationships/slideLayout" Target="/ppt/slideLayouts/slideLayout1.xml" Id="Ree968ad2099041bc" /><Relationship Type="http://schemas.openxmlformats.org/officeDocument/2006/relationships/slideLayout" Target="/ppt/slideLayouts/slideLayout2.xml" Id="R3892290af4a9456b" /><Relationship Type="http://schemas.openxmlformats.org/officeDocument/2006/relationships/slideLayout" Target="/ppt/slideLayouts/slideLayout3.xml" Id="R3ac5b942e6684ca1" /><Relationship Type="http://schemas.openxmlformats.org/officeDocument/2006/relationships/slideLayout" Target="/ppt/slideLayouts/slideLayout4.xml" Id="Rff27ede1ced9428e" /><Relationship Type="http://schemas.openxmlformats.org/officeDocument/2006/relationships/slideLayout" Target="/ppt/slideLayouts/slideLayout5.xml" Id="R7dabb936f3074519" /><Relationship Type="http://schemas.openxmlformats.org/officeDocument/2006/relationships/slideLayout" Target="/ppt/slideLayouts/slideLayout6.xml" Id="R8fc3de527567463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e968ad2099041bc"/>
    <p:sldLayoutId xmlns:r="http://schemas.openxmlformats.org/officeDocument/2006/relationships" id="2147483650" r:id="R3892290af4a9456b"/>
    <p:sldLayoutId xmlns:r="http://schemas.openxmlformats.org/officeDocument/2006/relationships" id="2147483651" r:id="R3ac5b942e6684ca1"/>
    <p:sldLayoutId xmlns:r="http://schemas.openxmlformats.org/officeDocument/2006/relationships" id="2147483652" r:id="Rff27ede1ced9428e"/>
    <p:sldLayoutId xmlns:r="http://schemas.openxmlformats.org/officeDocument/2006/relationships" id="2147483653" r:id="R7dabb936f3074519"/>
    <p:sldLayoutId xmlns:r="http://schemas.openxmlformats.org/officeDocument/2006/relationships" id="2147483654" r:id="R8fc3de527567463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c45230db03f4fca" /><Relationship Type="http://schemas.openxmlformats.org/officeDocument/2006/relationships/image" Target="/ppt/media/image.jpeg" Id="R0d2f49d24c3244a7" /><Relationship Type="http://schemas.openxmlformats.org/officeDocument/2006/relationships/notesSlide" Target="/ppt/notesSlides/notesSlide1.xml" Id="R51b2f4b7ba9149b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47fbefa47d94632" /><Relationship Type="http://schemas.openxmlformats.org/officeDocument/2006/relationships/notesSlide" Target="/ppt/notesSlides/notesSlide2.xml" Id="R17a4778798da4dc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ea98c3fcd2b4c4b" /><Relationship Type="http://schemas.openxmlformats.org/officeDocument/2006/relationships/image" Target="/ppt/media/image2.jpeg" Id="Rbdd170485ef14e71" /><Relationship Type="http://schemas.openxmlformats.org/officeDocument/2006/relationships/notesSlide" Target="/ppt/notesSlides/notesSlide3.xml" Id="R07842dea25db46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287d9d855e2473c" /><Relationship Type="http://schemas.openxmlformats.org/officeDocument/2006/relationships/image" Target="/ppt/media/image.png" Id="Rb3e5f2fbe1e549c6" /><Relationship Type="http://schemas.openxmlformats.org/officeDocument/2006/relationships/image" Target="/ppt/media/image2.png" Id="Rf92022089082473e" /><Relationship Type="http://schemas.openxmlformats.org/officeDocument/2006/relationships/image" Target="/ppt/media/image3.png" Id="R5c04e0dcd2914ead" /><Relationship Type="http://schemas.openxmlformats.org/officeDocument/2006/relationships/notesSlide" Target="/ppt/notesSlides/notesSlide4.xml" Id="R0d9248d372fa40e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2c02d572494403c" /><Relationship Type="http://schemas.openxmlformats.org/officeDocument/2006/relationships/notesSlide" Target="/ppt/notesSlides/notesSlide5.xml" Id="R0760d580072f4b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613acc7279742c7" /><Relationship Type="http://schemas.openxmlformats.org/officeDocument/2006/relationships/notesSlide" Target="/ppt/notesSlides/notesSlide6.xml" Id="R9cbc1eda05e94a0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14d20e309c1446d" /><Relationship Type="http://schemas.openxmlformats.org/officeDocument/2006/relationships/notesSlide" Target="/ppt/notesSlides/notesSlide7.xml" Id="R95b0a3bbd5ac46b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18377844fdb4099" /><Relationship Type="http://schemas.openxmlformats.org/officeDocument/2006/relationships/chart" Target="/ppt/slides/charts/chart1.xml" Id="R70caaa97602747fb" /><Relationship Type="http://schemas.openxmlformats.org/officeDocument/2006/relationships/notesSlide" Target="/ppt/notesSlides/notesSlide8.xml" Id="Rc2fd0b554c164e6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6ae73d5a952479f" /><Relationship Type="http://schemas.openxmlformats.org/officeDocument/2006/relationships/notesSlide" Target="/ppt/notesSlides/notesSlide9.xml" Id="R2baf09eb4e82430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3634338d6fc409e" /><Relationship Type="http://schemas.openxmlformats.org/officeDocument/2006/relationships/notesSlide" Target="/ppt/notesSlides/notesSlide10.xml" Id="R2629f8d838ea4e4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Last value</c:v>
          </c:tx>
          <c:spPr>
            <a:solidFill xmlns:a="http://schemas.openxmlformats.org/drawingml/2006/main">
              <a:srgbClr val="141414"/>
            </a:solidFill>
          </c:spPr>
          <c:invertIfNegative val="0"/>
          <c:cat>
            <c:strRef>
              <c:f>'Chart Data'!$A$2:$A$3</c:f>
              <c:strCache>
                <c:ptCount val="2"/>
                <c:pt idx="0">
                  <c:v>10s horizon</c:v>
                </c:pt>
                <c:pt idx="1">
                  <c:v>30s horizon</c:v>
                </c:pt>
              </c:strCache>
            </c:strRef>
          </c:cat>
          <c:val>
            <c:numRef>
              <c:f>'Chart Data'!$B$2:$B$3</c:f>
              <c:numCache>
                <c:formatCode>General</c:formatCode>
                <c:ptCount val="2"/>
                <c:pt idx="0">
                  <c:v>3.081</c:v>
                </c:pt>
                <c:pt idx="1">
                  <c:v>7.65</c:v>
                </c:pt>
              </c:numCache>
            </c:numRef>
          </c:val>
        </c:ser>
        <c:ser>
          <c:idx val="1"/>
          <c:order val="1"/>
          <c:tx>
            <c:v>Frozen ridge</c:v>
          </c:tx>
          <c:spPr>
            <a:solidFill xmlns:a="http://schemas.openxmlformats.org/drawingml/2006/main">
              <a:srgbClr val="86E8B0"/>
            </a:solidFill>
          </c:spPr>
          <c:invertIfNegative val="0"/>
          <c:cat>
            <c:strRef>
              <c:f>'Chart Data'!$C$2:$C$3</c:f>
              <c:strCache>
                <c:ptCount val="2"/>
                <c:pt idx="0">
                  <c:v>10s horizon</c:v>
                </c:pt>
                <c:pt idx="1">
                  <c:v>30s horizon</c:v>
                </c:pt>
              </c:strCache>
            </c:strRef>
          </c:cat>
          <c:val>
            <c:numRef>
              <c:f>'Chart Data'!$D$2:$D$3</c:f>
              <c:numCache>
                <c:formatCode>General</c:formatCode>
                <c:ptCount val="2"/>
                <c:pt idx="0">
                  <c:v>2.808</c:v>
                </c:pt>
                <c:pt idx="1">
                  <c:v>7.066</c:v>
                </c:pt>
              </c:numCache>
            </c:numRef>
          </c:val>
        </c:ser>
        <c:ser>
          <c:idx val="2"/>
          <c:order val="2"/>
          <c:tx>
            <c:v>Adaptive bias</c:v>
          </c:tx>
          <c:spPr>
            <a:solidFill xmlns:a="http://schemas.openxmlformats.org/drawingml/2006/main">
              <a:srgbClr val="A1A7A3"/>
            </a:solidFill>
          </c:spPr>
          <c:invertIfNegative val="0"/>
          <c:cat>
            <c:strRef>
              <c:f>'Chart Data'!$E$2:$E$3</c:f>
              <c:strCache>
                <c:ptCount val="2"/>
                <c:pt idx="0">
                  <c:v>10s horizon</c:v>
                </c:pt>
                <c:pt idx="1">
                  <c:v>30s horizon</c:v>
                </c:pt>
              </c:strCache>
            </c:strRef>
          </c:cat>
          <c:val>
            <c:numRef>
              <c:f>'Chart Data'!$F$2:$F$3</c:f>
              <c:numCache>
                <c:formatCode>General</c:formatCode>
                <c:ptCount val="2"/>
                <c:pt idx="0">
                  <c:v>2.843</c:v>
                </c:pt>
                <c:pt idx="1">
                  <c:v>7.473</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500">
                  <a:solidFill>
                    <a:srgbClr val="141414"/>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4DF"/>
            </a:solidFill>
          </a:ln>
        </c:spPr>
        <c:txPr>
          <a:bodyPr xmlns:a="http://schemas.openxmlformats.org/drawingml/2006/main" anchorCtr="1"/>
          <a:lstStyle xmlns:a="http://schemas.openxmlformats.org/drawingml/2006/main"/>
          <a:p xmlns:a="http://schemas.openxmlformats.org/drawingml/2006/main">
            <a:pPr>
              <a:defRPr sz="1725">
                <a:solidFill>
                  <a:srgbClr val="141414"/>
                </a:solidFill>
                <a:latin typeface="Helvetica Neue"/>
                <a:ea typeface="Helvetica Neue"/>
                <a:cs typeface="Helvetica Neue"/>
              </a:defRPr>
            </a:pPr>
          </a:p>
        </c:txPr>
        <c:crossAx val="48672768"/>
      </c:catAx>
      <c:valAx>
        <c:axId val="48672768"/>
        <c:scaling>
          <c:orientation val="minMax"/>
          <c:max val="9"/>
          <c:min val="0"/>
        </c:scaling>
        <c:delete val="0"/>
        <c:axPos val="l"/>
        <c:majorGridlines>
          <c:spPr>
            <a:ln xmlns:a="http://schemas.openxmlformats.org/drawingml/2006/main" w="9525">
              <a:solidFill>
                <a:srgbClr val="DCE4DF"/>
              </a:solidFill>
            </a:ln>
          </c:spPr>
        </c:majorGridlines>
        <c:title>
          <c:tx>
            <c:rich>
              <a:bodyPr xmlns:a="http://schemas.openxmlformats.org/drawingml/2006/main"/>
              <a:lstStyle xmlns:a="http://schemas.openxmlformats.org/drawingml/2006/main"/>
              <a:p xmlns:a="http://schemas.openxmlformats.org/drawingml/2006/main">
                <a:r>
                  <a:rPr sz="1725">
                    <a:solidFill>
                      <a:srgbClr val="5D6560"/>
                    </a:solidFill>
                    <a:latin typeface="Helvetica Neue"/>
                    <a:ea typeface="Helvetica Neue"/>
                    <a:cs typeface="Helvetica Neue"/>
                  </a:rPr>
                  <a:t>MAE (bpm)</a:t>
                </a:r>
              </a:p>
            </c:rich>
          </c:tx>
          <c:overlay val="0"/>
          <c:txPr>
            <a:bodyPr xmlns:a="http://schemas.openxmlformats.org/drawingml/2006/main" anchorCtr="1"/>
            <a:lstStyle xmlns:a="http://schemas.openxmlformats.org/drawingml/2006/main"/>
            <a:p xmlns:a="http://schemas.openxmlformats.org/drawingml/2006/main">
              <a:pPr>
                <a:defRPr sz="1725">
                  <a:solidFill>
                    <a:srgbClr val="5D6560"/>
                  </a:solidFill>
                  <a:latin typeface="Helvetica Neue"/>
                  <a:ea typeface="Helvetica Neue"/>
                  <a:cs typeface="Helvetica Neue"/>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D6560"/>
                </a:solidFill>
                <a:latin typeface="Helvetica Neue"/>
                <a:ea typeface="Helvetica Neue"/>
                <a:cs typeface="Helvetica Neue"/>
              </a:defRPr>
            </a:pPr>
          </a:p>
        </c:txPr>
        <c:crossAx val="48650112"/>
        <c:crossBetween val="between"/>
        <c:majorUnit val="3"/>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41414"/>
              </a:solidFill>
              <a:latin typeface="Helvetica Neue"/>
              <a:ea typeface="Helvetica Neue"/>
              <a:cs typeface="Helvetica Neue"/>
            </a:defRPr>
          </a:pPr>
        </a:p>
      </c:txPr>
    </c:legend>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1">
            <a:extLst xmlns:a="http://schemas.openxmlformats.org/drawingml/2006/main">
              <a:ext uri="{FF2B5EF4-FFF2-40B4-BE49-F238E27FC236}">
                <a16:creationId xmlns:a16="http://schemas.microsoft.com/office/drawing/2014/main" id="{CF94B9FF-DF3C-4B98-83D0-235C364F364E}"/>
              </a:ext>
            </a:extLst>
          </p:cNvPr>
          <p:cNvSpPr>
            <a:spLocks xmlns:a="http://schemas.openxmlformats.org/drawingml/2006/main" noGrp="1"/>
          </p:cNvSpPr>
          <p:nvPr/>
        </p:nvSpPr>
        <p:spPr>
          <a:xfrm xmlns:a="http://schemas.openxmlformats.org/drawingml/2006/main">
            <a:off x="723900" y="1000125"/>
            <a:ext cx="619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7500" b="1">
                <a:solidFill>
                  <a:srgbClr val="141414"/>
                </a:solidFill>
                <a:latin typeface="Helvetica Neue"/>
                <a:ea typeface="Helvetica Neue"/>
                <a:cs typeface="Helvetica Neue"/>
              </a:defRPr>
            </a:defPPr>
            <a:lvl1pPr>
              <a:defRPr sz="7500" b="1">
                <a:solidFill>
                  <a:srgbClr val="141414"/>
                </a:solidFill>
                <a:latin typeface="Helvetica Neue"/>
                <a:ea typeface="Helvetica Neue"/>
                <a:cs typeface="Helvetica Neue"/>
              </a:defRPr>
            </a:lvl1pPr>
            <a:lvl2pPr>
              <a:defRPr sz="7500" b="1">
                <a:solidFill>
                  <a:srgbClr val="141414"/>
                </a:solidFill>
                <a:latin typeface="Helvetica Neue"/>
                <a:ea typeface="Helvetica Neue"/>
                <a:cs typeface="Helvetica Neue"/>
              </a:defRPr>
            </a:lvl2pPr>
            <a:lvl3pPr>
              <a:defRPr sz="7500" b="1">
                <a:solidFill>
                  <a:srgbClr val="141414"/>
                </a:solidFill>
                <a:latin typeface="Helvetica Neue"/>
                <a:ea typeface="Helvetica Neue"/>
                <a:cs typeface="Helvetica Neue"/>
              </a:defRPr>
            </a:lvl3pPr>
            <a:lvl4pPr>
              <a:defRPr sz="7500" b="1">
                <a:solidFill>
                  <a:srgbClr val="141414"/>
                </a:solidFill>
                <a:latin typeface="Helvetica Neue"/>
                <a:ea typeface="Helvetica Neue"/>
                <a:cs typeface="Helvetica Neue"/>
              </a:defRPr>
            </a:lvl4pPr>
            <a:lvl5pPr>
              <a:defRPr sz="7500" b="1">
                <a:solidFill>
                  <a:srgbClr val="141414"/>
                </a:solidFill>
                <a:latin typeface="Helvetica Neue"/>
                <a:ea typeface="Helvetica Neue"/>
                <a:cs typeface="Helvetica Neue"/>
              </a:defRPr>
            </a:lvl5pPr>
            <a:lvl6pPr>
              <a:defRPr sz="7500" b="1">
                <a:solidFill>
                  <a:srgbClr val="141414"/>
                </a:solidFill>
                <a:latin typeface="Helvetica Neue"/>
                <a:ea typeface="Helvetica Neue"/>
                <a:cs typeface="Helvetica Neue"/>
              </a:defRPr>
            </a:lvl6pPr>
            <a:lvl7pPr>
              <a:defRPr sz="7500" b="1">
                <a:solidFill>
                  <a:srgbClr val="141414"/>
                </a:solidFill>
                <a:latin typeface="Helvetica Neue"/>
                <a:ea typeface="Helvetica Neue"/>
                <a:cs typeface="Helvetica Neue"/>
              </a:defRPr>
            </a:lvl7pPr>
            <a:lvl8pPr>
              <a:defRPr sz="7500" b="1">
                <a:solidFill>
                  <a:srgbClr val="141414"/>
                </a:solidFill>
                <a:latin typeface="Helvetica Neue"/>
                <a:ea typeface="Helvetica Neue"/>
                <a:cs typeface="Helvetica Neue"/>
              </a:defRPr>
            </a:lvl8pPr>
            <a:lvl9pPr>
              <a:defRPr sz="7500" b="1">
                <a:solidFill>
                  <a:srgbClr val="141414"/>
                </a:solidFill>
                <a:latin typeface="Helvetica Neue"/>
                <a:ea typeface="Helvetica Neue"/>
                <a:cs typeface="Helvetica Neue"/>
              </a:defRPr>
            </a:lvl9pPr>
          </a:lstStyle>
          <a:p xmlns:a="http://schemas.openxmlformats.org/drawingml/2006/main">
            <a:pPr>
              <a:defRPr sz="7500" b="1">
                <a:solidFill>
                  <a:srgbClr val="141414"/>
                </a:solidFill>
                <a:latin typeface="Helvetica Neue"/>
                <a:ea typeface="Helvetica Neue"/>
                <a:cs typeface="Helvetica Neue"/>
              </a:defRPr>
            </a:pPr>
            <a:r>
              <a:rPr sz="7500" b="1">
                <a:solidFill>
                  <a:srgbClr val="141414"/>
                </a:solidFill>
                <a:latin typeface="Helvetica Neue"/>
                <a:ea typeface="Helvetica Neue"/>
                <a:cs typeface="Helvetica Neue"/>
              </a:rPr>
              <a:t>Spottr</a:t>
            </a:r>
          </a:p>
        </p:txBody>
      </p:sp>
      <p:sp>
        <p:nvSpPr>
          <p:cNvPr id="2" name="text-2">
            <a:extLst xmlns:a="http://schemas.openxmlformats.org/drawingml/2006/main">
              <a:ext uri="{FF2B5EF4-FFF2-40B4-BE49-F238E27FC236}">
                <a16:creationId xmlns:a16="http://schemas.microsoft.com/office/drawing/2014/main" id="{1AF84CFC-AB65-4310-9AB5-ADD576FE044A}"/>
              </a:ext>
            </a:extLst>
          </p:cNvPr>
          <p:cNvSpPr>
            <a:spLocks xmlns:a="http://schemas.openxmlformats.org/drawingml/2006/main" noGrp="1"/>
          </p:cNvSpPr>
          <p:nvPr/>
        </p:nvSpPr>
        <p:spPr>
          <a:xfrm xmlns:a="http://schemas.openxmlformats.org/drawingml/2006/main">
            <a:off x="762000" y="2552700"/>
            <a:ext cx="647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141414"/>
                </a:solidFill>
                <a:latin typeface="Helvetica Neue"/>
                <a:ea typeface="Helvetica Neue"/>
                <a:cs typeface="Helvetica Neue"/>
              </a:defRPr>
            </a:defPPr>
            <a:lvl1pPr>
              <a:defRPr sz="3900" b="1">
                <a:solidFill>
                  <a:srgbClr val="141414"/>
                </a:solidFill>
                <a:latin typeface="Helvetica Neue"/>
                <a:ea typeface="Helvetica Neue"/>
                <a:cs typeface="Helvetica Neue"/>
              </a:defRPr>
            </a:lvl1pPr>
            <a:lvl2pPr>
              <a:defRPr sz="3900" b="1">
                <a:solidFill>
                  <a:srgbClr val="141414"/>
                </a:solidFill>
                <a:latin typeface="Helvetica Neue"/>
                <a:ea typeface="Helvetica Neue"/>
                <a:cs typeface="Helvetica Neue"/>
              </a:defRPr>
            </a:lvl2pPr>
            <a:lvl3pPr>
              <a:defRPr sz="3900" b="1">
                <a:solidFill>
                  <a:srgbClr val="141414"/>
                </a:solidFill>
                <a:latin typeface="Helvetica Neue"/>
                <a:ea typeface="Helvetica Neue"/>
                <a:cs typeface="Helvetica Neue"/>
              </a:defRPr>
            </a:lvl3pPr>
            <a:lvl4pPr>
              <a:defRPr sz="3900" b="1">
                <a:solidFill>
                  <a:srgbClr val="141414"/>
                </a:solidFill>
                <a:latin typeface="Helvetica Neue"/>
                <a:ea typeface="Helvetica Neue"/>
                <a:cs typeface="Helvetica Neue"/>
              </a:defRPr>
            </a:lvl4pPr>
            <a:lvl5pPr>
              <a:defRPr sz="3900" b="1">
                <a:solidFill>
                  <a:srgbClr val="141414"/>
                </a:solidFill>
                <a:latin typeface="Helvetica Neue"/>
                <a:ea typeface="Helvetica Neue"/>
                <a:cs typeface="Helvetica Neue"/>
              </a:defRPr>
            </a:lvl5pPr>
            <a:lvl6pPr>
              <a:defRPr sz="3900" b="1">
                <a:solidFill>
                  <a:srgbClr val="141414"/>
                </a:solidFill>
                <a:latin typeface="Helvetica Neue"/>
                <a:ea typeface="Helvetica Neue"/>
                <a:cs typeface="Helvetica Neue"/>
              </a:defRPr>
            </a:lvl6pPr>
            <a:lvl7pPr>
              <a:defRPr sz="3900" b="1">
                <a:solidFill>
                  <a:srgbClr val="141414"/>
                </a:solidFill>
                <a:latin typeface="Helvetica Neue"/>
                <a:ea typeface="Helvetica Neue"/>
                <a:cs typeface="Helvetica Neue"/>
              </a:defRPr>
            </a:lvl7pPr>
            <a:lvl8pPr>
              <a:defRPr sz="3900" b="1">
                <a:solidFill>
                  <a:srgbClr val="141414"/>
                </a:solidFill>
                <a:latin typeface="Helvetica Neue"/>
                <a:ea typeface="Helvetica Neue"/>
                <a:cs typeface="Helvetica Neue"/>
              </a:defRPr>
            </a:lvl8pPr>
            <a:lvl9pPr>
              <a:defRPr sz="3900" b="1">
                <a:solidFill>
                  <a:srgbClr val="141414"/>
                </a:solidFill>
                <a:latin typeface="Helvetica Neue"/>
                <a:ea typeface="Helvetica Neue"/>
                <a:cs typeface="Helvetica Neue"/>
              </a:defRPr>
            </a:lvl9pPr>
          </a:lstStyle>
          <a:p xmlns:a="http://schemas.openxmlformats.org/drawingml/2006/main">
            <a:pPr>
              <a:defRPr sz="3900" b="1">
                <a:solidFill>
                  <a:srgbClr val="141414"/>
                </a:solidFill>
                <a:latin typeface="Helvetica Neue"/>
                <a:ea typeface="Helvetica Neue"/>
                <a:cs typeface="Helvetica Neue"/>
              </a:defRPr>
            </a:pPr>
            <a:r>
              <a:rPr sz="3900" b="1">
                <a:solidFill>
                  <a:srgbClr val="141414"/>
                </a:solidFill>
                <a:latin typeface="Helvetica Neue"/>
                <a:ea typeface="Helvetica Neue"/>
                <a:cs typeface="Helvetica Neue"/>
              </a:rPr>
              <a:t>Bodyweight coaching</a:t>
            </a:r>
          </a:p>
          <a:p xmlns:a="http://schemas.openxmlformats.org/drawingml/2006/main">
            <a:pPr>
              <a:defRPr sz="3900" b="1">
                <a:solidFill>
                  <a:srgbClr val="141414"/>
                </a:solidFill>
                <a:latin typeface="Helvetica Neue"/>
                <a:ea typeface="Helvetica Neue"/>
                <a:cs typeface="Helvetica Neue"/>
              </a:defRPr>
            </a:pPr>
            <a:r>
              <a:rPr sz="3900" b="1">
                <a:solidFill>
                  <a:srgbClr val="141414"/>
                </a:solidFill>
                <a:latin typeface="Helvetica Neue"/>
                <a:ea typeface="Helvetica Neue"/>
                <a:cs typeface="Helvetica Neue"/>
              </a:rPr>
              <a:t>on iPhone and Watch</a:t>
            </a:r>
          </a:p>
        </p:txBody>
      </p:sp>
      <p:sp>
        <p:nvSpPr>
          <p:cNvPr id="3" name="text-3">
            <a:extLst xmlns:a="http://schemas.openxmlformats.org/drawingml/2006/main">
              <a:ext uri="{FF2B5EF4-FFF2-40B4-BE49-F238E27FC236}">
                <a16:creationId xmlns:a16="http://schemas.microsoft.com/office/drawing/2014/main" id="{F436AB6B-506B-4CE6-A952-4BDE6F7FBD69}"/>
              </a:ext>
            </a:extLst>
          </p:cNvPr>
          <p:cNvSpPr>
            <a:spLocks xmlns:a="http://schemas.openxmlformats.org/drawingml/2006/main" noGrp="1"/>
          </p:cNvSpPr>
          <p:nvPr/>
        </p:nvSpPr>
        <p:spPr>
          <a:xfrm xmlns:a="http://schemas.openxmlformats.org/drawingml/2006/main">
            <a:off x="781050" y="4476750"/>
            <a:ext cx="619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D6560"/>
                </a:solidFill>
                <a:latin typeface="Helvetica Neue"/>
                <a:ea typeface="Helvetica Neue"/>
                <a:cs typeface="Helvetica Neue"/>
              </a:defRPr>
            </a:defPPr>
            <a:lvl1pPr>
              <a:defRPr sz="2175" b="0">
                <a:solidFill>
                  <a:srgbClr val="5D6560"/>
                </a:solidFill>
                <a:latin typeface="Helvetica Neue"/>
                <a:ea typeface="Helvetica Neue"/>
                <a:cs typeface="Helvetica Neue"/>
              </a:defRPr>
            </a:lvl1pPr>
            <a:lvl2pPr>
              <a:defRPr sz="2175" b="0">
                <a:solidFill>
                  <a:srgbClr val="5D6560"/>
                </a:solidFill>
                <a:latin typeface="Helvetica Neue"/>
                <a:ea typeface="Helvetica Neue"/>
                <a:cs typeface="Helvetica Neue"/>
              </a:defRPr>
            </a:lvl2pPr>
            <a:lvl3pPr>
              <a:defRPr sz="2175" b="0">
                <a:solidFill>
                  <a:srgbClr val="5D6560"/>
                </a:solidFill>
                <a:latin typeface="Helvetica Neue"/>
                <a:ea typeface="Helvetica Neue"/>
                <a:cs typeface="Helvetica Neue"/>
              </a:defRPr>
            </a:lvl3pPr>
            <a:lvl4pPr>
              <a:defRPr sz="2175" b="0">
                <a:solidFill>
                  <a:srgbClr val="5D6560"/>
                </a:solidFill>
                <a:latin typeface="Helvetica Neue"/>
                <a:ea typeface="Helvetica Neue"/>
                <a:cs typeface="Helvetica Neue"/>
              </a:defRPr>
            </a:lvl4pPr>
            <a:lvl5pPr>
              <a:defRPr sz="2175" b="0">
                <a:solidFill>
                  <a:srgbClr val="5D6560"/>
                </a:solidFill>
                <a:latin typeface="Helvetica Neue"/>
                <a:ea typeface="Helvetica Neue"/>
                <a:cs typeface="Helvetica Neue"/>
              </a:defRPr>
            </a:lvl5pPr>
            <a:lvl6pPr>
              <a:defRPr sz="2175" b="0">
                <a:solidFill>
                  <a:srgbClr val="5D6560"/>
                </a:solidFill>
                <a:latin typeface="Helvetica Neue"/>
                <a:ea typeface="Helvetica Neue"/>
                <a:cs typeface="Helvetica Neue"/>
              </a:defRPr>
            </a:lvl6pPr>
            <a:lvl7pPr>
              <a:defRPr sz="2175" b="0">
                <a:solidFill>
                  <a:srgbClr val="5D6560"/>
                </a:solidFill>
                <a:latin typeface="Helvetica Neue"/>
                <a:ea typeface="Helvetica Neue"/>
                <a:cs typeface="Helvetica Neue"/>
              </a:defRPr>
            </a:lvl7pPr>
            <a:lvl8pPr>
              <a:defRPr sz="2175" b="0">
                <a:solidFill>
                  <a:srgbClr val="5D6560"/>
                </a:solidFill>
                <a:latin typeface="Helvetica Neue"/>
                <a:ea typeface="Helvetica Neue"/>
                <a:cs typeface="Helvetica Neue"/>
              </a:defRPr>
            </a:lvl8pPr>
            <a:lvl9pPr>
              <a:defRPr sz="2175" b="0">
                <a:solidFill>
                  <a:srgbClr val="5D6560"/>
                </a:solidFill>
                <a:latin typeface="Helvetica Neue"/>
                <a:ea typeface="Helvetica Neue"/>
                <a:cs typeface="Helvetica Neue"/>
              </a:defRPr>
            </a:lvl9pPr>
          </a:lstStyle>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Short workout feedback needs fresh evidence.</a:t>
            </a:r>
          </a:p>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The user stays in control of the set.</a:t>
            </a:r>
          </a:p>
        </p:txBody>
      </p:sp>
      <p:sp>
        <p:nvSpPr>
          <p:cNvPr id="4" name="text-4">
            <a:extLst xmlns:a="http://schemas.openxmlformats.org/drawingml/2006/main">
              <a:ext uri="{FF2B5EF4-FFF2-40B4-BE49-F238E27FC236}">
                <a16:creationId xmlns:a16="http://schemas.microsoft.com/office/drawing/2014/main" id="{602BB8F7-DBEA-4A05-AF5D-36B6B1C7B70F}"/>
              </a:ext>
            </a:extLst>
          </p:cNvPr>
          <p:cNvSpPr>
            <a:spLocks xmlns:a="http://schemas.openxmlformats.org/drawingml/2006/main" noGrp="1"/>
          </p:cNvSpPr>
          <p:nvPr/>
        </p:nvSpPr>
        <p:spPr>
          <a:xfrm xmlns:a="http://schemas.openxmlformats.org/drawingml/2006/main">
            <a:off x="781050" y="598170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OxHack 2026</a:t>
            </a:r>
          </a:p>
        </p:txBody>
      </p:sp>
      <p:pic>
        <p:nvPicPr>
          <p:cNvPr id="5" name="">
            <a:extLst xmlns:a="http://schemas.openxmlformats.org/drawingml/2006/main">
              <a:ext uri="{FF2B5EF4-FFF2-40B4-BE49-F238E27FC236}">
                <a16:creationId xmlns:a16="http://schemas.microsoft.com/office/drawing/2014/main" id="{B29377BD-8FCC-4A47-B8FE-56CCE9E0928D}"/>
              </a:ext>
            </a:extLst>
          </p:cNvPr>
          <p:cNvPicPr>
            <a:picLocks xmlns:a="http://schemas.openxmlformats.org/drawingml/2006/main" noChangeAspect="1"/>
          </p:cNvPicPr>
          <p:nvPr/>
        </p:nvPicPr>
        <p:blipFill>
          <a:blip xmlns:r="http://schemas.openxmlformats.org/officeDocument/2006/relationships" xmlns:a="http://schemas.openxmlformats.org/drawingml/2006/main" r:embed="R0d2f49d24c3244a7"/>
          <a:stretch xmlns:a="http://schemas.openxmlformats.org/drawingml/2006/main"/>
        </p:blipFill>
        <p:spPr>
          <a:xfrm xmlns:a="http://schemas.openxmlformats.org/drawingml/2006/main">
            <a:off x="8295323" y="619125"/>
            <a:ext cx="2497455" cy="5429250"/>
          </a:xfrm>
          <a:prstGeom xmlns:a="http://schemas.openxmlformats.org/drawingml/2006/main" prst="rect">
            <a:avLst/>
          </a:prstGeom>
        </p:spPr>
      </p:pic>
      <p:sp>
        <p:nvSpPr>
          <p:cNvPr id="6" name="text-5">
            <a:extLst xmlns:a="http://schemas.openxmlformats.org/drawingml/2006/main">
              <a:ext uri="{FF2B5EF4-FFF2-40B4-BE49-F238E27FC236}">
                <a16:creationId xmlns:a16="http://schemas.microsoft.com/office/drawing/2014/main" id="{2E559C11-7FEA-4FD6-8D4F-313A2F1F7989}"/>
              </a:ext>
            </a:extLst>
          </p:cNvPr>
          <p:cNvSpPr>
            <a:spLocks xmlns:a="http://schemas.openxmlformats.org/drawingml/2006/main" noGrp="1"/>
          </p:cNvSpPr>
          <p:nvPr/>
        </p:nvSpPr>
        <p:spPr>
          <a:xfrm xmlns:a="http://schemas.openxmlformats.org/drawingml/2006/main">
            <a:off x="8153400" y="6172200"/>
            <a:ext cx="333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D6560"/>
                </a:solidFill>
                <a:latin typeface="Helvetica Neue"/>
                <a:ea typeface="Helvetica Neue"/>
                <a:cs typeface="Helvetica Neue"/>
              </a:defRPr>
            </a:defPPr>
            <a:lvl1pPr>
              <a:defRPr sz="1575" b="0">
                <a:solidFill>
                  <a:srgbClr val="5D6560"/>
                </a:solidFill>
                <a:latin typeface="Helvetica Neue"/>
                <a:ea typeface="Helvetica Neue"/>
                <a:cs typeface="Helvetica Neue"/>
              </a:defRPr>
            </a:lvl1pPr>
            <a:lvl2pPr>
              <a:defRPr sz="1575" b="0">
                <a:solidFill>
                  <a:srgbClr val="5D6560"/>
                </a:solidFill>
                <a:latin typeface="Helvetica Neue"/>
                <a:ea typeface="Helvetica Neue"/>
                <a:cs typeface="Helvetica Neue"/>
              </a:defRPr>
            </a:lvl2pPr>
            <a:lvl3pPr>
              <a:defRPr sz="1575" b="0">
                <a:solidFill>
                  <a:srgbClr val="5D6560"/>
                </a:solidFill>
                <a:latin typeface="Helvetica Neue"/>
                <a:ea typeface="Helvetica Neue"/>
                <a:cs typeface="Helvetica Neue"/>
              </a:defRPr>
            </a:lvl3pPr>
            <a:lvl4pPr>
              <a:defRPr sz="1575" b="0">
                <a:solidFill>
                  <a:srgbClr val="5D6560"/>
                </a:solidFill>
                <a:latin typeface="Helvetica Neue"/>
                <a:ea typeface="Helvetica Neue"/>
                <a:cs typeface="Helvetica Neue"/>
              </a:defRPr>
            </a:lvl4pPr>
            <a:lvl5pPr>
              <a:defRPr sz="1575" b="0">
                <a:solidFill>
                  <a:srgbClr val="5D6560"/>
                </a:solidFill>
                <a:latin typeface="Helvetica Neue"/>
                <a:ea typeface="Helvetica Neue"/>
                <a:cs typeface="Helvetica Neue"/>
              </a:defRPr>
            </a:lvl5pPr>
            <a:lvl6pPr>
              <a:defRPr sz="1575" b="0">
                <a:solidFill>
                  <a:srgbClr val="5D6560"/>
                </a:solidFill>
                <a:latin typeface="Helvetica Neue"/>
                <a:ea typeface="Helvetica Neue"/>
                <a:cs typeface="Helvetica Neue"/>
              </a:defRPr>
            </a:lvl6pPr>
            <a:lvl7pPr>
              <a:defRPr sz="1575" b="0">
                <a:solidFill>
                  <a:srgbClr val="5D6560"/>
                </a:solidFill>
                <a:latin typeface="Helvetica Neue"/>
                <a:ea typeface="Helvetica Neue"/>
                <a:cs typeface="Helvetica Neue"/>
              </a:defRPr>
            </a:lvl7pPr>
            <a:lvl8pPr>
              <a:defRPr sz="1575" b="0">
                <a:solidFill>
                  <a:srgbClr val="5D6560"/>
                </a:solidFill>
                <a:latin typeface="Helvetica Neue"/>
                <a:ea typeface="Helvetica Neue"/>
                <a:cs typeface="Helvetica Neue"/>
              </a:defRPr>
            </a:lvl8pPr>
            <a:lvl9pPr>
              <a:defRPr sz="1575" b="0">
                <a:solidFill>
                  <a:srgbClr val="5D6560"/>
                </a:solidFill>
                <a:latin typeface="Helvetica Neue"/>
                <a:ea typeface="Helvetica Neue"/>
                <a:cs typeface="Helvetica Neue"/>
              </a:defRPr>
            </a:lvl9pPr>
          </a:lstStyle>
          <a:p xmlns:a="http://schemas.openxmlformats.org/drawingml/2006/main">
            <a:pPr>
              <a:defRPr sz="1575" b="0">
                <a:solidFill>
                  <a:srgbClr val="5D6560"/>
                </a:solidFill>
                <a:latin typeface="Helvetica Neue"/>
                <a:ea typeface="Helvetica Neue"/>
                <a:cs typeface="Helvetica Neue"/>
              </a:defRPr>
            </a:pPr>
            <a:r>
              <a:rPr sz="1575" b="0">
                <a:solidFill>
                  <a:srgbClr val="5D6560"/>
                </a:solidFill>
                <a:latin typeface="Helvetica Neue"/>
                <a:ea typeface="Helvetica Neue"/>
                <a:cs typeface="Helvetica Neue"/>
              </a:rPr>
              <a:t>iPhone simulator</a:t>
            </a:r>
          </a:p>
        </p:txBody>
      </p:sp>
    </p:spTree>
    <p:extLst>
      <p:ext uri="{BB962C8B-B14F-4D97-AF65-F5344CB8AC3E}">
        <p14:creationId xmlns:p14="http://schemas.microsoft.com/office/powerpoint/2010/main" val="154513694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6">
            <a:extLst xmlns:a="http://schemas.openxmlformats.org/drawingml/2006/main">
              <a:ext uri="{FF2B5EF4-FFF2-40B4-BE49-F238E27FC236}">
                <a16:creationId xmlns:a16="http://schemas.microsoft.com/office/drawing/2014/main" id="{9970BB2E-D055-436F-95CF-03EF37820BF6}"/>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The workout flow</a:t>
            </a:r>
          </a:p>
        </p:txBody>
      </p:sp>
      <p:sp>
        <p:nvSpPr>
          <p:cNvPr id="2" name="text-7">
            <a:extLst xmlns:a="http://schemas.openxmlformats.org/drawingml/2006/main">
              <a:ext uri="{FF2B5EF4-FFF2-40B4-BE49-F238E27FC236}">
                <a16:creationId xmlns:a16="http://schemas.microsoft.com/office/drawing/2014/main" id="{1DA80092-2D67-436D-BD74-D21ABBDB6921}"/>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02</a:t>
            </a:r>
          </a:p>
        </p:txBody>
      </p:sp>
      <p:sp>
        <p:nvSpPr>
          <p:cNvPr id="3" name="text-8">
            <a:extLst xmlns:a="http://schemas.openxmlformats.org/drawingml/2006/main">
              <a:ext uri="{FF2B5EF4-FFF2-40B4-BE49-F238E27FC236}">
                <a16:creationId xmlns:a16="http://schemas.microsoft.com/office/drawing/2014/main" id="{71450F83-64B1-4A52-A2C8-BAEEE9CBB17C}"/>
              </a:ext>
            </a:extLst>
          </p:cNvPr>
          <p:cNvSpPr>
            <a:spLocks xmlns:a="http://schemas.openxmlformats.org/drawingml/2006/main" noGrp="1"/>
          </p:cNvSpPr>
          <p:nvPr/>
        </p:nvSpPr>
        <p:spPr>
          <a:xfrm xmlns:a="http://schemas.openxmlformats.org/drawingml/2006/main">
            <a:off x="762000" y="1752600"/>
            <a:ext cx="685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16B49"/>
                </a:solidFill>
                <a:latin typeface="Helvetica Neue"/>
                <a:ea typeface="Helvetica Neue"/>
                <a:cs typeface="Helvetica Neue"/>
              </a:defRPr>
            </a:defPPr>
            <a:lvl1pPr>
              <a:defRPr sz="3000" b="1">
                <a:solidFill>
                  <a:srgbClr val="216B49"/>
                </a:solidFill>
                <a:latin typeface="Helvetica Neue"/>
                <a:ea typeface="Helvetica Neue"/>
                <a:cs typeface="Helvetica Neue"/>
              </a:defRPr>
            </a:lvl1pPr>
            <a:lvl2pPr>
              <a:defRPr sz="3000" b="1">
                <a:solidFill>
                  <a:srgbClr val="216B49"/>
                </a:solidFill>
                <a:latin typeface="Helvetica Neue"/>
                <a:ea typeface="Helvetica Neue"/>
                <a:cs typeface="Helvetica Neue"/>
              </a:defRPr>
            </a:lvl2pPr>
            <a:lvl3pPr>
              <a:defRPr sz="3000" b="1">
                <a:solidFill>
                  <a:srgbClr val="216B49"/>
                </a:solidFill>
                <a:latin typeface="Helvetica Neue"/>
                <a:ea typeface="Helvetica Neue"/>
                <a:cs typeface="Helvetica Neue"/>
              </a:defRPr>
            </a:lvl3pPr>
            <a:lvl4pPr>
              <a:defRPr sz="3000" b="1">
                <a:solidFill>
                  <a:srgbClr val="216B49"/>
                </a:solidFill>
                <a:latin typeface="Helvetica Neue"/>
                <a:ea typeface="Helvetica Neue"/>
                <a:cs typeface="Helvetica Neue"/>
              </a:defRPr>
            </a:lvl4pPr>
            <a:lvl5pPr>
              <a:defRPr sz="3000" b="1">
                <a:solidFill>
                  <a:srgbClr val="216B49"/>
                </a:solidFill>
                <a:latin typeface="Helvetica Neue"/>
                <a:ea typeface="Helvetica Neue"/>
                <a:cs typeface="Helvetica Neue"/>
              </a:defRPr>
            </a:lvl5pPr>
            <a:lvl6pPr>
              <a:defRPr sz="3000" b="1">
                <a:solidFill>
                  <a:srgbClr val="216B49"/>
                </a:solidFill>
                <a:latin typeface="Helvetica Neue"/>
                <a:ea typeface="Helvetica Neue"/>
                <a:cs typeface="Helvetica Neue"/>
              </a:defRPr>
            </a:lvl6pPr>
            <a:lvl7pPr>
              <a:defRPr sz="3000" b="1">
                <a:solidFill>
                  <a:srgbClr val="216B49"/>
                </a:solidFill>
                <a:latin typeface="Helvetica Neue"/>
                <a:ea typeface="Helvetica Neue"/>
                <a:cs typeface="Helvetica Neue"/>
              </a:defRPr>
            </a:lvl7pPr>
            <a:lvl8pPr>
              <a:defRPr sz="3000" b="1">
                <a:solidFill>
                  <a:srgbClr val="216B49"/>
                </a:solidFill>
                <a:latin typeface="Helvetica Neue"/>
                <a:ea typeface="Helvetica Neue"/>
                <a:cs typeface="Helvetica Neue"/>
              </a:defRPr>
            </a:lvl8pPr>
            <a:lvl9pPr>
              <a:defRPr sz="3000" b="1">
                <a:solidFill>
                  <a:srgbClr val="216B49"/>
                </a:solidFill>
                <a:latin typeface="Helvetica Neue"/>
                <a:ea typeface="Helvetica Neue"/>
                <a:cs typeface="Helvetica Neue"/>
              </a:defRPr>
            </a:lvl9pPr>
          </a:lstStyle>
          <a:p xmlns:a="http://schemas.openxmlformats.org/drawingml/2006/main">
            <a:pPr>
              <a:defRPr sz="3000" b="1">
                <a:solidFill>
                  <a:srgbClr val="216B49"/>
                </a:solidFill>
                <a:latin typeface="Helvetica Neue"/>
                <a:ea typeface="Helvetica Neue"/>
                <a:cs typeface="Helvetica Neue"/>
              </a:defRPr>
            </a:pPr>
            <a:r>
              <a:rPr sz="3000" b="1">
                <a:solidFill>
                  <a:srgbClr val="216B49"/>
                </a:solidFill>
                <a:latin typeface="Helvetica Neue"/>
                <a:ea typeface="Helvetica Neue"/>
                <a:cs typeface="Helvetica Neue"/>
              </a:rPr>
              <a:t>01</a:t>
            </a:r>
          </a:p>
        </p:txBody>
      </p:sp>
      <p:sp>
        <p:nvSpPr>
          <p:cNvPr id="4" name="text-9">
            <a:extLst xmlns:a="http://schemas.openxmlformats.org/drawingml/2006/main">
              <a:ext uri="{FF2B5EF4-FFF2-40B4-BE49-F238E27FC236}">
                <a16:creationId xmlns:a16="http://schemas.microsoft.com/office/drawing/2014/main" id="{03C62035-17C0-48B3-A453-2AD7DA6ADBC3}"/>
              </a:ext>
            </a:extLst>
          </p:cNvPr>
          <p:cNvSpPr>
            <a:spLocks xmlns:a="http://schemas.openxmlformats.org/drawingml/2006/main" noGrp="1"/>
          </p:cNvSpPr>
          <p:nvPr/>
        </p:nvSpPr>
        <p:spPr>
          <a:xfrm xmlns:a="http://schemas.openxmlformats.org/drawingml/2006/main">
            <a:off x="1762125" y="17526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Choose the work</a:t>
            </a:r>
          </a:p>
        </p:txBody>
      </p:sp>
      <p:sp>
        <p:nvSpPr>
          <p:cNvPr id="5" name="text-10">
            <a:extLst xmlns:a="http://schemas.openxmlformats.org/drawingml/2006/main">
              <a:ext uri="{FF2B5EF4-FFF2-40B4-BE49-F238E27FC236}">
                <a16:creationId xmlns:a16="http://schemas.microsoft.com/office/drawing/2014/main" id="{A0B75417-414E-49C5-9D0B-3838EF31D32F}"/>
              </a:ext>
            </a:extLst>
          </p:cNvPr>
          <p:cNvSpPr>
            <a:spLocks xmlns:a="http://schemas.openxmlformats.org/drawingml/2006/main" noGrp="1"/>
          </p:cNvSpPr>
          <p:nvPr/>
        </p:nvSpPr>
        <p:spPr>
          <a:xfrm xmlns:a="http://schemas.openxmlformats.org/drawingml/2006/main">
            <a:off x="5334000" y="175260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Goals, weekly target and an approved workout.</a:t>
            </a:r>
          </a:p>
        </p:txBody>
      </p:sp>
      <p:sp>
        <p:nvSpPr>
          <p:cNvPr id="6" name="text-11">
            <a:extLst xmlns:a="http://schemas.openxmlformats.org/drawingml/2006/main">
              <a:ext uri="{FF2B5EF4-FFF2-40B4-BE49-F238E27FC236}">
                <a16:creationId xmlns:a16="http://schemas.microsoft.com/office/drawing/2014/main" id="{B4BD4E20-1766-480F-818E-8063C1DEA03E}"/>
              </a:ext>
            </a:extLst>
          </p:cNvPr>
          <p:cNvSpPr>
            <a:spLocks xmlns:a="http://schemas.openxmlformats.org/drawingml/2006/main" noGrp="1"/>
          </p:cNvSpPr>
          <p:nvPr/>
        </p:nvSpPr>
        <p:spPr>
          <a:xfrm xmlns:a="http://schemas.openxmlformats.org/drawingml/2006/main">
            <a:off x="762000" y="2857500"/>
            <a:ext cx="685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16B49"/>
                </a:solidFill>
                <a:latin typeface="Helvetica Neue"/>
                <a:ea typeface="Helvetica Neue"/>
                <a:cs typeface="Helvetica Neue"/>
              </a:defRPr>
            </a:defPPr>
            <a:lvl1pPr>
              <a:defRPr sz="3000" b="1">
                <a:solidFill>
                  <a:srgbClr val="216B49"/>
                </a:solidFill>
                <a:latin typeface="Helvetica Neue"/>
                <a:ea typeface="Helvetica Neue"/>
                <a:cs typeface="Helvetica Neue"/>
              </a:defRPr>
            </a:lvl1pPr>
            <a:lvl2pPr>
              <a:defRPr sz="3000" b="1">
                <a:solidFill>
                  <a:srgbClr val="216B49"/>
                </a:solidFill>
                <a:latin typeface="Helvetica Neue"/>
                <a:ea typeface="Helvetica Neue"/>
                <a:cs typeface="Helvetica Neue"/>
              </a:defRPr>
            </a:lvl2pPr>
            <a:lvl3pPr>
              <a:defRPr sz="3000" b="1">
                <a:solidFill>
                  <a:srgbClr val="216B49"/>
                </a:solidFill>
                <a:latin typeface="Helvetica Neue"/>
                <a:ea typeface="Helvetica Neue"/>
                <a:cs typeface="Helvetica Neue"/>
              </a:defRPr>
            </a:lvl3pPr>
            <a:lvl4pPr>
              <a:defRPr sz="3000" b="1">
                <a:solidFill>
                  <a:srgbClr val="216B49"/>
                </a:solidFill>
                <a:latin typeface="Helvetica Neue"/>
                <a:ea typeface="Helvetica Neue"/>
                <a:cs typeface="Helvetica Neue"/>
              </a:defRPr>
            </a:lvl4pPr>
            <a:lvl5pPr>
              <a:defRPr sz="3000" b="1">
                <a:solidFill>
                  <a:srgbClr val="216B49"/>
                </a:solidFill>
                <a:latin typeface="Helvetica Neue"/>
                <a:ea typeface="Helvetica Neue"/>
                <a:cs typeface="Helvetica Neue"/>
              </a:defRPr>
            </a:lvl5pPr>
            <a:lvl6pPr>
              <a:defRPr sz="3000" b="1">
                <a:solidFill>
                  <a:srgbClr val="216B49"/>
                </a:solidFill>
                <a:latin typeface="Helvetica Neue"/>
                <a:ea typeface="Helvetica Neue"/>
                <a:cs typeface="Helvetica Neue"/>
              </a:defRPr>
            </a:lvl6pPr>
            <a:lvl7pPr>
              <a:defRPr sz="3000" b="1">
                <a:solidFill>
                  <a:srgbClr val="216B49"/>
                </a:solidFill>
                <a:latin typeface="Helvetica Neue"/>
                <a:ea typeface="Helvetica Neue"/>
                <a:cs typeface="Helvetica Neue"/>
              </a:defRPr>
            </a:lvl7pPr>
            <a:lvl8pPr>
              <a:defRPr sz="3000" b="1">
                <a:solidFill>
                  <a:srgbClr val="216B49"/>
                </a:solidFill>
                <a:latin typeface="Helvetica Neue"/>
                <a:ea typeface="Helvetica Neue"/>
                <a:cs typeface="Helvetica Neue"/>
              </a:defRPr>
            </a:lvl8pPr>
            <a:lvl9pPr>
              <a:defRPr sz="3000" b="1">
                <a:solidFill>
                  <a:srgbClr val="216B49"/>
                </a:solidFill>
                <a:latin typeface="Helvetica Neue"/>
                <a:ea typeface="Helvetica Neue"/>
                <a:cs typeface="Helvetica Neue"/>
              </a:defRPr>
            </a:lvl9pPr>
          </a:lstStyle>
          <a:p xmlns:a="http://schemas.openxmlformats.org/drawingml/2006/main">
            <a:pPr>
              <a:defRPr sz="3000" b="1">
                <a:solidFill>
                  <a:srgbClr val="216B49"/>
                </a:solidFill>
                <a:latin typeface="Helvetica Neue"/>
                <a:ea typeface="Helvetica Neue"/>
                <a:cs typeface="Helvetica Neue"/>
              </a:defRPr>
            </a:pPr>
            <a:r>
              <a:rPr sz="3000" b="1">
                <a:solidFill>
                  <a:srgbClr val="216B49"/>
                </a:solidFill>
                <a:latin typeface="Helvetica Neue"/>
                <a:ea typeface="Helvetica Neue"/>
                <a:cs typeface="Helvetica Neue"/>
              </a:rPr>
              <a:t>02</a:t>
            </a:r>
          </a:p>
        </p:txBody>
      </p:sp>
      <p:sp>
        <p:nvSpPr>
          <p:cNvPr id="7" name="text-12">
            <a:extLst xmlns:a="http://schemas.openxmlformats.org/drawingml/2006/main">
              <a:ext uri="{FF2B5EF4-FFF2-40B4-BE49-F238E27FC236}">
                <a16:creationId xmlns:a16="http://schemas.microsoft.com/office/drawing/2014/main" id="{5A419473-1077-43CC-80A5-72291F5F9FE5}"/>
              </a:ext>
            </a:extLst>
          </p:cNvPr>
          <p:cNvSpPr>
            <a:spLocks xmlns:a="http://schemas.openxmlformats.org/drawingml/2006/main" noGrp="1"/>
          </p:cNvSpPr>
          <p:nvPr/>
        </p:nvSpPr>
        <p:spPr>
          <a:xfrm xmlns:a="http://schemas.openxmlformats.org/drawingml/2006/main">
            <a:off x="1762125" y="28575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Track the set</a:t>
            </a:r>
          </a:p>
        </p:txBody>
      </p:sp>
      <p:sp>
        <p:nvSpPr>
          <p:cNvPr id="8" name="text-13">
            <a:extLst xmlns:a="http://schemas.openxmlformats.org/drawingml/2006/main">
              <a:ext uri="{FF2B5EF4-FFF2-40B4-BE49-F238E27FC236}">
                <a16:creationId xmlns:a16="http://schemas.microsoft.com/office/drawing/2014/main" id="{2752C846-EC6F-4D2C-8B52-BC0F46675A1E}"/>
              </a:ext>
            </a:extLst>
          </p:cNvPr>
          <p:cNvSpPr>
            <a:spLocks xmlns:a="http://schemas.openxmlformats.org/drawingml/2006/main" noGrp="1"/>
          </p:cNvSpPr>
          <p:nvPr/>
        </p:nvSpPr>
        <p:spPr>
          <a:xfrm xmlns:a="http://schemas.openxmlformats.org/drawingml/2006/main">
            <a:off x="5334000" y="285750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Camera cycles for push-ups and squats. Manual logs and hold timers for the wider library.</a:t>
            </a:r>
          </a:p>
        </p:txBody>
      </p:sp>
      <p:sp>
        <p:nvSpPr>
          <p:cNvPr id="9" name="text-14">
            <a:extLst xmlns:a="http://schemas.openxmlformats.org/drawingml/2006/main">
              <a:ext uri="{FF2B5EF4-FFF2-40B4-BE49-F238E27FC236}">
                <a16:creationId xmlns:a16="http://schemas.microsoft.com/office/drawing/2014/main" id="{15A7F86C-6875-4A06-B849-E4B2933AB7E7}"/>
              </a:ext>
            </a:extLst>
          </p:cNvPr>
          <p:cNvSpPr>
            <a:spLocks xmlns:a="http://schemas.openxmlformats.org/drawingml/2006/main" noGrp="1"/>
          </p:cNvSpPr>
          <p:nvPr/>
        </p:nvSpPr>
        <p:spPr>
          <a:xfrm xmlns:a="http://schemas.openxmlformats.org/drawingml/2006/main">
            <a:off x="762000" y="3962400"/>
            <a:ext cx="685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16B49"/>
                </a:solidFill>
                <a:latin typeface="Helvetica Neue"/>
                <a:ea typeface="Helvetica Neue"/>
                <a:cs typeface="Helvetica Neue"/>
              </a:defRPr>
            </a:defPPr>
            <a:lvl1pPr>
              <a:defRPr sz="3000" b="1">
                <a:solidFill>
                  <a:srgbClr val="216B49"/>
                </a:solidFill>
                <a:latin typeface="Helvetica Neue"/>
                <a:ea typeface="Helvetica Neue"/>
                <a:cs typeface="Helvetica Neue"/>
              </a:defRPr>
            </a:lvl1pPr>
            <a:lvl2pPr>
              <a:defRPr sz="3000" b="1">
                <a:solidFill>
                  <a:srgbClr val="216B49"/>
                </a:solidFill>
                <a:latin typeface="Helvetica Neue"/>
                <a:ea typeface="Helvetica Neue"/>
                <a:cs typeface="Helvetica Neue"/>
              </a:defRPr>
            </a:lvl2pPr>
            <a:lvl3pPr>
              <a:defRPr sz="3000" b="1">
                <a:solidFill>
                  <a:srgbClr val="216B49"/>
                </a:solidFill>
                <a:latin typeface="Helvetica Neue"/>
                <a:ea typeface="Helvetica Neue"/>
                <a:cs typeface="Helvetica Neue"/>
              </a:defRPr>
            </a:lvl3pPr>
            <a:lvl4pPr>
              <a:defRPr sz="3000" b="1">
                <a:solidFill>
                  <a:srgbClr val="216B49"/>
                </a:solidFill>
                <a:latin typeface="Helvetica Neue"/>
                <a:ea typeface="Helvetica Neue"/>
                <a:cs typeface="Helvetica Neue"/>
              </a:defRPr>
            </a:lvl4pPr>
            <a:lvl5pPr>
              <a:defRPr sz="3000" b="1">
                <a:solidFill>
                  <a:srgbClr val="216B49"/>
                </a:solidFill>
                <a:latin typeface="Helvetica Neue"/>
                <a:ea typeface="Helvetica Neue"/>
                <a:cs typeface="Helvetica Neue"/>
              </a:defRPr>
            </a:lvl5pPr>
            <a:lvl6pPr>
              <a:defRPr sz="3000" b="1">
                <a:solidFill>
                  <a:srgbClr val="216B49"/>
                </a:solidFill>
                <a:latin typeface="Helvetica Neue"/>
                <a:ea typeface="Helvetica Neue"/>
                <a:cs typeface="Helvetica Neue"/>
              </a:defRPr>
            </a:lvl6pPr>
            <a:lvl7pPr>
              <a:defRPr sz="3000" b="1">
                <a:solidFill>
                  <a:srgbClr val="216B49"/>
                </a:solidFill>
                <a:latin typeface="Helvetica Neue"/>
                <a:ea typeface="Helvetica Neue"/>
                <a:cs typeface="Helvetica Neue"/>
              </a:defRPr>
            </a:lvl7pPr>
            <a:lvl8pPr>
              <a:defRPr sz="3000" b="1">
                <a:solidFill>
                  <a:srgbClr val="216B49"/>
                </a:solidFill>
                <a:latin typeface="Helvetica Neue"/>
                <a:ea typeface="Helvetica Neue"/>
                <a:cs typeface="Helvetica Neue"/>
              </a:defRPr>
            </a:lvl8pPr>
            <a:lvl9pPr>
              <a:defRPr sz="3000" b="1">
                <a:solidFill>
                  <a:srgbClr val="216B49"/>
                </a:solidFill>
                <a:latin typeface="Helvetica Neue"/>
                <a:ea typeface="Helvetica Neue"/>
                <a:cs typeface="Helvetica Neue"/>
              </a:defRPr>
            </a:lvl9pPr>
          </a:lstStyle>
          <a:p xmlns:a="http://schemas.openxmlformats.org/drawingml/2006/main">
            <a:pPr>
              <a:defRPr sz="3000" b="1">
                <a:solidFill>
                  <a:srgbClr val="216B49"/>
                </a:solidFill>
                <a:latin typeface="Helvetica Neue"/>
                <a:ea typeface="Helvetica Neue"/>
                <a:cs typeface="Helvetica Neue"/>
              </a:defRPr>
            </a:pPr>
            <a:r>
              <a:rPr sz="3000" b="1">
                <a:solidFill>
                  <a:srgbClr val="216B49"/>
                </a:solidFill>
                <a:latin typeface="Helvetica Neue"/>
                <a:ea typeface="Helvetica Neue"/>
                <a:cs typeface="Helvetica Neue"/>
              </a:rPr>
              <a:t>03</a:t>
            </a:r>
          </a:p>
        </p:txBody>
      </p:sp>
      <p:sp>
        <p:nvSpPr>
          <p:cNvPr id="10" name="text-15">
            <a:extLst xmlns:a="http://schemas.openxmlformats.org/drawingml/2006/main">
              <a:ext uri="{FF2B5EF4-FFF2-40B4-BE49-F238E27FC236}">
                <a16:creationId xmlns:a16="http://schemas.microsoft.com/office/drawing/2014/main" id="{C5E80153-E22F-4E22-8A5C-E65985886295}"/>
              </a:ext>
            </a:extLst>
          </p:cNvPr>
          <p:cNvSpPr>
            <a:spLocks xmlns:a="http://schemas.openxmlformats.org/drawingml/2006/main" noGrp="1"/>
          </p:cNvSpPr>
          <p:nvPr/>
        </p:nvSpPr>
        <p:spPr>
          <a:xfrm xmlns:a="http://schemas.openxmlformats.org/drawingml/2006/main">
            <a:off x="1762125" y="39624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Respond in the moment</a:t>
            </a:r>
          </a:p>
        </p:txBody>
      </p:sp>
      <p:sp>
        <p:nvSpPr>
          <p:cNvPr id="11" name="text-16">
            <a:extLst xmlns:a="http://schemas.openxmlformats.org/drawingml/2006/main">
              <a:ext uri="{FF2B5EF4-FFF2-40B4-BE49-F238E27FC236}">
                <a16:creationId xmlns:a16="http://schemas.microsoft.com/office/drawing/2014/main" id="{75F02EEE-503A-4359-AA02-3FF5F40612CC}"/>
              </a:ext>
            </a:extLst>
          </p:cNvPr>
          <p:cNvSpPr>
            <a:spLocks xmlns:a="http://schemas.openxmlformats.org/drawingml/2006/main" noGrp="1"/>
          </p:cNvSpPr>
          <p:nvPr/>
        </p:nvSpPr>
        <p:spPr>
          <a:xfrm xmlns:a="http://schemas.openxmlformats.org/drawingml/2006/main">
            <a:off x="5334000" y="396240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 concise cue, visible controls and optional local voice. Pause or stop at any time.</a:t>
            </a:r>
          </a:p>
        </p:txBody>
      </p:sp>
      <p:sp>
        <p:nvSpPr>
          <p:cNvPr id="12" name="text-17">
            <a:extLst xmlns:a="http://schemas.openxmlformats.org/drawingml/2006/main">
              <a:ext uri="{FF2B5EF4-FFF2-40B4-BE49-F238E27FC236}">
                <a16:creationId xmlns:a16="http://schemas.microsoft.com/office/drawing/2014/main" id="{EB112305-7E23-46B4-8AB9-1E2D4F1C5C86}"/>
              </a:ext>
            </a:extLst>
          </p:cNvPr>
          <p:cNvSpPr>
            <a:spLocks xmlns:a="http://schemas.openxmlformats.org/drawingml/2006/main" noGrp="1"/>
          </p:cNvSpPr>
          <p:nvPr/>
        </p:nvSpPr>
        <p:spPr>
          <a:xfrm xmlns:a="http://schemas.openxmlformats.org/drawingml/2006/main">
            <a:off x="762000" y="5067300"/>
            <a:ext cx="685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16B49"/>
                </a:solidFill>
                <a:latin typeface="Helvetica Neue"/>
                <a:ea typeface="Helvetica Neue"/>
                <a:cs typeface="Helvetica Neue"/>
              </a:defRPr>
            </a:defPPr>
            <a:lvl1pPr>
              <a:defRPr sz="3000" b="1">
                <a:solidFill>
                  <a:srgbClr val="216B49"/>
                </a:solidFill>
                <a:latin typeface="Helvetica Neue"/>
                <a:ea typeface="Helvetica Neue"/>
                <a:cs typeface="Helvetica Neue"/>
              </a:defRPr>
            </a:lvl1pPr>
            <a:lvl2pPr>
              <a:defRPr sz="3000" b="1">
                <a:solidFill>
                  <a:srgbClr val="216B49"/>
                </a:solidFill>
                <a:latin typeface="Helvetica Neue"/>
                <a:ea typeface="Helvetica Neue"/>
                <a:cs typeface="Helvetica Neue"/>
              </a:defRPr>
            </a:lvl2pPr>
            <a:lvl3pPr>
              <a:defRPr sz="3000" b="1">
                <a:solidFill>
                  <a:srgbClr val="216B49"/>
                </a:solidFill>
                <a:latin typeface="Helvetica Neue"/>
                <a:ea typeface="Helvetica Neue"/>
                <a:cs typeface="Helvetica Neue"/>
              </a:defRPr>
            </a:lvl3pPr>
            <a:lvl4pPr>
              <a:defRPr sz="3000" b="1">
                <a:solidFill>
                  <a:srgbClr val="216B49"/>
                </a:solidFill>
                <a:latin typeface="Helvetica Neue"/>
                <a:ea typeface="Helvetica Neue"/>
                <a:cs typeface="Helvetica Neue"/>
              </a:defRPr>
            </a:lvl4pPr>
            <a:lvl5pPr>
              <a:defRPr sz="3000" b="1">
                <a:solidFill>
                  <a:srgbClr val="216B49"/>
                </a:solidFill>
                <a:latin typeface="Helvetica Neue"/>
                <a:ea typeface="Helvetica Neue"/>
                <a:cs typeface="Helvetica Neue"/>
              </a:defRPr>
            </a:lvl5pPr>
            <a:lvl6pPr>
              <a:defRPr sz="3000" b="1">
                <a:solidFill>
                  <a:srgbClr val="216B49"/>
                </a:solidFill>
                <a:latin typeface="Helvetica Neue"/>
                <a:ea typeface="Helvetica Neue"/>
                <a:cs typeface="Helvetica Neue"/>
              </a:defRPr>
            </a:lvl6pPr>
            <a:lvl7pPr>
              <a:defRPr sz="3000" b="1">
                <a:solidFill>
                  <a:srgbClr val="216B49"/>
                </a:solidFill>
                <a:latin typeface="Helvetica Neue"/>
                <a:ea typeface="Helvetica Neue"/>
                <a:cs typeface="Helvetica Neue"/>
              </a:defRPr>
            </a:lvl7pPr>
            <a:lvl8pPr>
              <a:defRPr sz="3000" b="1">
                <a:solidFill>
                  <a:srgbClr val="216B49"/>
                </a:solidFill>
                <a:latin typeface="Helvetica Neue"/>
                <a:ea typeface="Helvetica Neue"/>
                <a:cs typeface="Helvetica Neue"/>
              </a:defRPr>
            </a:lvl8pPr>
            <a:lvl9pPr>
              <a:defRPr sz="3000" b="1">
                <a:solidFill>
                  <a:srgbClr val="216B49"/>
                </a:solidFill>
                <a:latin typeface="Helvetica Neue"/>
                <a:ea typeface="Helvetica Neue"/>
                <a:cs typeface="Helvetica Neue"/>
              </a:defRPr>
            </a:lvl9pPr>
          </a:lstStyle>
          <a:p xmlns:a="http://schemas.openxmlformats.org/drawingml/2006/main">
            <a:pPr>
              <a:defRPr sz="3000" b="1">
                <a:solidFill>
                  <a:srgbClr val="216B49"/>
                </a:solidFill>
                <a:latin typeface="Helvetica Neue"/>
                <a:ea typeface="Helvetica Neue"/>
                <a:cs typeface="Helvetica Neue"/>
              </a:defRPr>
            </a:pPr>
            <a:r>
              <a:rPr sz="3000" b="1">
                <a:solidFill>
                  <a:srgbClr val="216B49"/>
                </a:solidFill>
                <a:latin typeface="Helvetica Neue"/>
                <a:ea typeface="Helvetica Neue"/>
                <a:cs typeface="Helvetica Neue"/>
              </a:rPr>
              <a:t>04</a:t>
            </a:r>
          </a:p>
        </p:txBody>
      </p:sp>
      <p:sp>
        <p:nvSpPr>
          <p:cNvPr id="13" name="text-18">
            <a:extLst xmlns:a="http://schemas.openxmlformats.org/drawingml/2006/main">
              <a:ext uri="{FF2B5EF4-FFF2-40B4-BE49-F238E27FC236}">
                <a16:creationId xmlns:a16="http://schemas.microsoft.com/office/drawing/2014/main" id="{1A0BAD9B-4BAF-4511-8A49-E348F285E20E}"/>
              </a:ext>
            </a:extLst>
          </p:cNvPr>
          <p:cNvSpPr>
            <a:spLocks xmlns:a="http://schemas.openxmlformats.org/drawingml/2006/main" noGrp="1"/>
          </p:cNvSpPr>
          <p:nvPr/>
        </p:nvSpPr>
        <p:spPr>
          <a:xfrm xmlns:a="http://schemas.openxmlformats.org/drawingml/2006/main">
            <a:off x="1762125" y="50673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Review the record</a:t>
            </a:r>
          </a:p>
        </p:txBody>
      </p:sp>
      <p:sp>
        <p:nvSpPr>
          <p:cNvPr id="14" name="text-19">
            <a:extLst xmlns:a="http://schemas.openxmlformats.org/drawingml/2006/main">
              <a:ext uri="{FF2B5EF4-FFF2-40B4-BE49-F238E27FC236}">
                <a16:creationId xmlns:a16="http://schemas.microsoft.com/office/drawing/2014/main" id="{3C62D96E-C67B-4D02-8E2D-AF48269F0C04}"/>
              </a:ext>
            </a:extLst>
          </p:cNvPr>
          <p:cNvSpPr>
            <a:spLocks xmlns:a="http://schemas.openxmlformats.org/drawingml/2006/main" noGrp="1"/>
          </p:cNvSpPr>
          <p:nvPr/>
        </p:nvSpPr>
        <p:spPr>
          <a:xfrm xmlns:a="http://schemas.openxmlformats.org/drawingml/2006/main">
            <a:off x="5334000" y="506730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Actual sets, source labels and timings. Ask for an AI summary with an explicit tap.</a:t>
            </a:r>
          </a:p>
        </p:txBody>
      </p:sp>
    </p:spTree>
    <p:extLst>
      <p:ext uri="{BB962C8B-B14F-4D97-AF65-F5344CB8AC3E}">
        <p14:creationId xmlns:p14="http://schemas.microsoft.com/office/powerpoint/2010/main" val="4577867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1A9D7693-8D59-496D-B763-89AA69BEA7DD}"/>
              </a:ext>
            </a:extLst>
          </p:cNvPr>
          <p:cNvCxnSpPr>
            <a:stCxn xmlns:a="http://schemas.openxmlformats.org/drawingml/2006/main" id="5" idx="1"/>
            <a:endCxn xmlns:a="http://schemas.openxmlformats.org/drawingml/2006/main" id="4" idx="3"/>
          </p:cNvCxnSpPr>
          <p:nvPr/>
        </p:nvCxnSpPr>
        <p:spPr>
          <a:xfrm xmlns:a="http://schemas.openxmlformats.org/drawingml/2006/main" flipH="1">
            <a:off x="7620000" y="2171700"/>
            <a:ext cx="1428750" cy="0"/>
          </a:xfrm>
          <a:prstGeom xmlns:a="http://schemas.openxmlformats.org/drawingml/2006/main" prst="straightConnector1">
            <a:avLst/>
          </a:prstGeom>
          <a:ln xmlns:a="http://schemas.openxmlformats.org/drawingml/2006/main" w="23813">
            <a:solidFill>
              <a:srgbClr val="216B49"/>
            </a:solidFill>
            <a:tailEnd type="triangle" w="sm" len="sm"/>
          </a:ln>
        </p:spPr>
      </p:cxnSp>
      <p:cxnSp>
        <p:nvCxnSpPr>
          <p:cNvPr id="6" name="">
            <a:extLst xmlns:a="http://schemas.openxmlformats.org/drawingml/2006/main">
              <a:ext uri="{FF2B5EF4-FFF2-40B4-BE49-F238E27FC236}">
                <a16:creationId xmlns:a16="http://schemas.microsoft.com/office/drawing/2014/main" id="{C2D2F827-E410-42D1-886B-9771A6C207A1}"/>
              </a:ext>
            </a:extLst>
          </p:cNvPr>
          <p:cNvCxnSpPr>
            <a:stCxn xmlns:a="http://schemas.openxmlformats.org/drawingml/2006/main" id="3" idx="3"/>
            <a:endCxn xmlns:a="http://schemas.openxmlformats.org/drawingml/2006/main" id="4" idx="1"/>
          </p:cNvCxnSpPr>
          <p:nvPr/>
        </p:nvCxnSpPr>
        <p:spPr>
          <a:xfrm xmlns:a="http://schemas.openxmlformats.org/drawingml/2006/main">
            <a:off x="3048000" y="2171700"/>
            <a:ext cx="1428750" cy="0"/>
          </a:xfrm>
          <a:prstGeom xmlns:a="http://schemas.openxmlformats.org/drawingml/2006/main" prst="straightConnector1">
            <a:avLst/>
          </a:prstGeom>
          <a:ln xmlns:a="http://schemas.openxmlformats.org/drawingml/2006/main" w="23813">
            <a:solidFill>
              <a:srgbClr val="216B49"/>
            </a:solidFill>
            <a:tailEnd type="triangle" w="sm" len="sm"/>
          </a:ln>
        </p:spPr>
      </p:cxnSp>
      <p:sp>
        <p:nvSpPr>
          <p:cNvPr id="14" name="text-20">
            <a:extLst xmlns:a="http://schemas.openxmlformats.org/drawingml/2006/main">
              <a:ext uri="{FF2B5EF4-FFF2-40B4-BE49-F238E27FC236}">
                <a16:creationId xmlns:a16="http://schemas.microsoft.com/office/drawing/2014/main" id="{0623840E-F91D-49BC-9BA9-6AA5092220D8}"/>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Phone, Watch and optional side camera</a:t>
            </a:r>
          </a:p>
        </p:txBody>
      </p:sp>
      <p:sp>
        <p:nvSpPr>
          <p:cNvPr id="2" name="text-21">
            <a:extLst xmlns:a="http://schemas.openxmlformats.org/drawingml/2006/main">
              <a:ext uri="{FF2B5EF4-FFF2-40B4-BE49-F238E27FC236}">
                <a16:creationId xmlns:a16="http://schemas.microsoft.com/office/drawing/2014/main" id="{F71E0349-AB87-4AC2-96C9-4DCF1A789341}"/>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03</a:t>
            </a:r>
          </a:p>
        </p:txBody>
      </p:sp>
      <p:sp>
        <p:nvSpPr>
          <p:cNvPr id="3" name="diagram-22">
            <a:extLst xmlns:a="http://schemas.openxmlformats.org/drawingml/2006/main">
              <a:ext uri="{FF2B5EF4-FFF2-40B4-BE49-F238E27FC236}">
                <a16:creationId xmlns:a16="http://schemas.microsoft.com/office/drawing/2014/main" id="{42FA7AAB-E7DD-4694-856E-1164470DDD67}"/>
              </a:ext>
            </a:extLst>
          </p:cNvPr>
          <p:cNvSpPr>
            <a:spLocks xmlns:a="http://schemas.openxmlformats.org/drawingml/2006/main" noGrp="1"/>
          </p:cNvSpPr>
          <p:nvPr/>
        </p:nvSpPr>
        <p:spPr>
          <a:xfrm xmlns:a="http://schemas.openxmlformats.org/drawingml/2006/main">
            <a:off x="762000" y="1809750"/>
            <a:ext cx="22860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Watch</a:t>
            </a:r>
          </a:p>
        </p:txBody>
      </p:sp>
      <p:sp>
        <p:nvSpPr>
          <p:cNvPr id="4" name="diagram-23">
            <a:extLst xmlns:a="http://schemas.openxmlformats.org/drawingml/2006/main">
              <a:ext uri="{FF2B5EF4-FFF2-40B4-BE49-F238E27FC236}">
                <a16:creationId xmlns:a16="http://schemas.microsoft.com/office/drawing/2014/main" id="{08DD5AA7-3D26-4B9D-91C9-2F32511348BC}"/>
              </a:ext>
            </a:extLst>
          </p:cNvPr>
          <p:cNvSpPr>
            <a:spLocks xmlns:a="http://schemas.openxmlformats.org/drawingml/2006/main" noGrp="1"/>
          </p:cNvSpPr>
          <p:nvPr/>
        </p:nvSpPr>
        <p:spPr>
          <a:xfrm xmlns:a="http://schemas.openxmlformats.org/drawingml/2006/main">
            <a:off x="4476750" y="1809750"/>
            <a:ext cx="314325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iPhone</a:t>
            </a:r>
          </a:p>
        </p:txBody>
      </p:sp>
      <p:sp>
        <p:nvSpPr>
          <p:cNvPr id="5" name="diagram-24">
            <a:extLst xmlns:a="http://schemas.openxmlformats.org/drawingml/2006/main">
              <a:ext uri="{FF2B5EF4-FFF2-40B4-BE49-F238E27FC236}">
                <a16:creationId xmlns:a16="http://schemas.microsoft.com/office/drawing/2014/main" id="{CB94A18C-0FC4-48A4-8204-AE35D0254C47}"/>
              </a:ext>
            </a:extLst>
          </p:cNvPr>
          <p:cNvSpPr>
            <a:spLocks xmlns:a="http://schemas.openxmlformats.org/drawingml/2006/main" noGrp="1"/>
          </p:cNvSpPr>
          <p:nvPr/>
        </p:nvSpPr>
        <p:spPr>
          <a:xfrm xmlns:a="http://schemas.openxmlformats.org/drawingml/2006/main">
            <a:off x="9048750" y="1809750"/>
            <a:ext cx="238125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Pi side camera</a:t>
            </a:r>
          </a:p>
        </p:txBody>
      </p:sp>
      <p:pic>
        <p:nvPicPr>
          <p:cNvPr id="8" name="">
            <a:extLst xmlns:a="http://schemas.openxmlformats.org/drawingml/2006/main">
              <a:ext uri="{FF2B5EF4-FFF2-40B4-BE49-F238E27FC236}">
                <a16:creationId xmlns:a16="http://schemas.microsoft.com/office/drawing/2014/main" id="{1218F474-0981-4B6F-AE2F-371406899645}"/>
              </a:ext>
            </a:extLst>
          </p:cNvPr>
          <p:cNvPicPr>
            <a:picLocks xmlns:a="http://schemas.openxmlformats.org/drawingml/2006/main" noChangeAspect="1"/>
          </p:cNvPicPr>
          <p:nvPr/>
        </p:nvPicPr>
        <p:blipFill>
          <a:blip xmlns:r="http://schemas.openxmlformats.org/officeDocument/2006/relationships" xmlns:a="http://schemas.openxmlformats.org/drawingml/2006/main" r:embed="Rbdd170485ef14e71"/>
          <a:stretch xmlns:a="http://schemas.openxmlformats.org/drawingml/2006/main"/>
        </p:blipFill>
        <p:spPr>
          <a:xfrm xmlns:a="http://schemas.openxmlformats.org/drawingml/2006/main">
            <a:off x="876300" y="3049526"/>
            <a:ext cx="2114550" cy="2521073"/>
          </a:xfrm>
          <a:prstGeom xmlns:a="http://schemas.openxmlformats.org/drawingml/2006/main" prst="rect">
            <a:avLst/>
          </a:prstGeom>
        </p:spPr>
      </p:pic>
      <p:sp>
        <p:nvSpPr>
          <p:cNvPr id="9" name="text-25">
            <a:extLst xmlns:a="http://schemas.openxmlformats.org/drawingml/2006/main">
              <a:ext uri="{FF2B5EF4-FFF2-40B4-BE49-F238E27FC236}">
                <a16:creationId xmlns:a16="http://schemas.microsoft.com/office/drawing/2014/main" id="{6F9CCEED-A766-436F-A60D-AB0D3265A475}"/>
              </a:ext>
            </a:extLst>
          </p:cNvPr>
          <p:cNvSpPr>
            <a:spLocks xmlns:a="http://schemas.openxmlformats.org/drawingml/2006/main" noGrp="1"/>
          </p:cNvSpPr>
          <p:nvPr/>
        </p:nvSpPr>
        <p:spPr>
          <a:xfrm xmlns:a="http://schemas.openxmlformats.org/drawingml/2006/main">
            <a:off x="762000" y="5753100"/>
            <a:ext cx="3095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560"/>
                </a:solidFill>
                <a:latin typeface="Helvetica Neue"/>
                <a:ea typeface="Helvetica Neue"/>
                <a:cs typeface="Helvetica Neue"/>
              </a:defRPr>
            </a:defPPr>
            <a:lvl1pPr>
              <a:defRPr sz="1725" b="0">
                <a:solidFill>
                  <a:srgbClr val="5D6560"/>
                </a:solidFill>
                <a:latin typeface="Helvetica Neue"/>
                <a:ea typeface="Helvetica Neue"/>
                <a:cs typeface="Helvetica Neue"/>
              </a:defRPr>
            </a:lvl1pPr>
            <a:lvl2pPr>
              <a:defRPr sz="1725" b="0">
                <a:solidFill>
                  <a:srgbClr val="5D6560"/>
                </a:solidFill>
                <a:latin typeface="Helvetica Neue"/>
                <a:ea typeface="Helvetica Neue"/>
                <a:cs typeface="Helvetica Neue"/>
              </a:defRPr>
            </a:lvl2pPr>
            <a:lvl3pPr>
              <a:defRPr sz="1725" b="0">
                <a:solidFill>
                  <a:srgbClr val="5D6560"/>
                </a:solidFill>
                <a:latin typeface="Helvetica Neue"/>
                <a:ea typeface="Helvetica Neue"/>
                <a:cs typeface="Helvetica Neue"/>
              </a:defRPr>
            </a:lvl3pPr>
            <a:lvl4pPr>
              <a:defRPr sz="1725" b="0">
                <a:solidFill>
                  <a:srgbClr val="5D6560"/>
                </a:solidFill>
                <a:latin typeface="Helvetica Neue"/>
                <a:ea typeface="Helvetica Neue"/>
                <a:cs typeface="Helvetica Neue"/>
              </a:defRPr>
            </a:lvl4pPr>
            <a:lvl5pPr>
              <a:defRPr sz="1725" b="0">
                <a:solidFill>
                  <a:srgbClr val="5D6560"/>
                </a:solidFill>
                <a:latin typeface="Helvetica Neue"/>
                <a:ea typeface="Helvetica Neue"/>
                <a:cs typeface="Helvetica Neue"/>
              </a:defRPr>
            </a:lvl5pPr>
            <a:lvl6pPr>
              <a:defRPr sz="1725" b="0">
                <a:solidFill>
                  <a:srgbClr val="5D6560"/>
                </a:solidFill>
                <a:latin typeface="Helvetica Neue"/>
                <a:ea typeface="Helvetica Neue"/>
                <a:cs typeface="Helvetica Neue"/>
              </a:defRPr>
            </a:lvl6pPr>
            <a:lvl7pPr>
              <a:defRPr sz="1725" b="0">
                <a:solidFill>
                  <a:srgbClr val="5D6560"/>
                </a:solidFill>
                <a:latin typeface="Helvetica Neue"/>
                <a:ea typeface="Helvetica Neue"/>
                <a:cs typeface="Helvetica Neue"/>
              </a:defRPr>
            </a:lvl7pPr>
            <a:lvl8pPr>
              <a:defRPr sz="1725" b="0">
                <a:solidFill>
                  <a:srgbClr val="5D6560"/>
                </a:solidFill>
                <a:latin typeface="Helvetica Neue"/>
                <a:ea typeface="Helvetica Neue"/>
                <a:cs typeface="Helvetica Neue"/>
              </a:defRPr>
            </a:lvl8pPr>
            <a:lvl9pPr>
              <a:defRPr sz="1725" b="0">
                <a:solidFill>
                  <a:srgbClr val="5D6560"/>
                </a:solidFill>
                <a:latin typeface="Helvetica Neue"/>
                <a:ea typeface="Helvetica Neue"/>
                <a:cs typeface="Helvetica Neue"/>
              </a:defRPr>
            </a:lvl9pPr>
          </a:lstStyle>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Simulator capture</a:t>
            </a:r>
          </a:p>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Physical sensors pending</a:t>
            </a:r>
          </a:p>
        </p:txBody>
      </p:sp>
      <p:sp>
        <p:nvSpPr>
          <p:cNvPr id="10" name="text-26">
            <a:extLst xmlns:a="http://schemas.openxmlformats.org/drawingml/2006/main">
              <a:ext uri="{FF2B5EF4-FFF2-40B4-BE49-F238E27FC236}">
                <a16:creationId xmlns:a16="http://schemas.microsoft.com/office/drawing/2014/main" id="{F8412CC9-6C4B-491F-BB8B-BD475EEA873C}"/>
              </a:ext>
            </a:extLst>
          </p:cNvPr>
          <p:cNvSpPr>
            <a:spLocks xmlns:a="http://schemas.openxmlformats.org/drawingml/2006/main" noGrp="1"/>
          </p:cNvSpPr>
          <p:nvPr/>
        </p:nvSpPr>
        <p:spPr>
          <a:xfrm xmlns:a="http://schemas.openxmlformats.org/drawingml/2006/main">
            <a:off x="4476750" y="31432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Session authority</a:t>
            </a:r>
          </a:p>
        </p:txBody>
      </p:sp>
      <p:sp>
        <p:nvSpPr>
          <p:cNvPr id="11" name="text-27">
            <a:extLst xmlns:a="http://schemas.openxmlformats.org/drawingml/2006/main">
              <a:ext uri="{FF2B5EF4-FFF2-40B4-BE49-F238E27FC236}">
                <a16:creationId xmlns:a16="http://schemas.microsoft.com/office/drawing/2014/main" id="{3442C844-3134-40D1-8DC2-68BA520392E7}"/>
              </a:ext>
            </a:extLst>
          </p:cNvPr>
          <p:cNvSpPr>
            <a:spLocks xmlns:a="http://schemas.openxmlformats.org/drawingml/2006/main" noGrp="1"/>
          </p:cNvSpPr>
          <p:nvPr/>
        </p:nvSpPr>
        <p:spPr>
          <a:xfrm xmlns:a="http://schemas.openxmlformats.org/drawingml/2006/main">
            <a:off x="4476750" y="3657600"/>
            <a:ext cx="3714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D6560"/>
                </a:solidFill>
                <a:latin typeface="Helvetica Neue"/>
                <a:ea typeface="Helvetica Neue"/>
                <a:cs typeface="Helvetica Neue"/>
              </a:defRPr>
            </a:defPPr>
            <a:lvl1pPr>
              <a:defRPr sz="2175" b="0">
                <a:solidFill>
                  <a:srgbClr val="5D6560"/>
                </a:solidFill>
                <a:latin typeface="Helvetica Neue"/>
                <a:ea typeface="Helvetica Neue"/>
                <a:cs typeface="Helvetica Neue"/>
              </a:defRPr>
            </a:lvl1pPr>
            <a:lvl2pPr>
              <a:defRPr sz="2175" b="0">
                <a:solidFill>
                  <a:srgbClr val="5D6560"/>
                </a:solidFill>
                <a:latin typeface="Helvetica Neue"/>
                <a:ea typeface="Helvetica Neue"/>
                <a:cs typeface="Helvetica Neue"/>
              </a:defRPr>
            </a:lvl2pPr>
            <a:lvl3pPr>
              <a:defRPr sz="2175" b="0">
                <a:solidFill>
                  <a:srgbClr val="5D6560"/>
                </a:solidFill>
                <a:latin typeface="Helvetica Neue"/>
                <a:ea typeface="Helvetica Neue"/>
                <a:cs typeface="Helvetica Neue"/>
              </a:defRPr>
            </a:lvl3pPr>
            <a:lvl4pPr>
              <a:defRPr sz="2175" b="0">
                <a:solidFill>
                  <a:srgbClr val="5D6560"/>
                </a:solidFill>
                <a:latin typeface="Helvetica Neue"/>
                <a:ea typeface="Helvetica Neue"/>
                <a:cs typeface="Helvetica Neue"/>
              </a:defRPr>
            </a:lvl4pPr>
            <a:lvl5pPr>
              <a:defRPr sz="2175" b="0">
                <a:solidFill>
                  <a:srgbClr val="5D6560"/>
                </a:solidFill>
                <a:latin typeface="Helvetica Neue"/>
                <a:ea typeface="Helvetica Neue"/>
                <a:cs typeface="Helvetica Neue"/>
              </a:defRPr>
            </a:lvl5pPr>
            <a:lvl6pPr>
              <a:defRPr sz="2175" b="0">
                <a:solidFill>
                  <a:srgbClr val="5D6560"/>
                </a:solidFill>
                <a:latin typeface="Helvetica Neue"/>
                <a:ea typeface="Helvetica Neue"/>
                <a:cs typeface="Helvetica Neue"/>
              </a:defRPr>
            </a:lvl6pPr>
            <a:lvl7pPr>
              <a:defRPr sz="2175" b="0">
                <a:solidFill>
                  <a:srgbClr val="5D6560"/>
                </a:solidFill>
                <a:latin typeface="Helvetica Neue"/>
                <a:ea typeface="Helvetica Neue"/>
                <a:cs typeface="Helvetica Neue"/>
              </a:defRPr>
            </a:lvl7pPr>
            <a:lvl8pPr>
              <a:defRPr sz="2175" b="0">
                <a:solidFill>
                  <a:srgbClr val="5D6560"/>
                </a:solidFill>
                <a:latin typeface="Helvetica Neue"/>
                <a:ea typeface="Helvetica Neue"/>
                <a:cs typeface="Helvetica Neue"/>
              </a:defRPr>
            </a:lvl8pPr>
            <a:lvl9pPr>
              <a:defRPr sz="2175" b="0">
                <a:solidFill>
                  <a:srgbClr val="5D6560"/>
                </a:solidFill>
                <a:latin typeface="Helvetica Neue"/>
                <a:ea typeface="Helvetica Neue"/>
                <a:cs typeface="Helvetica Neue"/>
              </a:defRPr>
            </a:lvl9pPr>
          </a:lstStyle>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On-device pose inference</a:t>
            </a:r>
          </a:p>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Rep and rest timing</a:t>
            </a:r>
          </a:p>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Cue priority and expiry</a:t>
            </a:r>
          </a:p>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Local workout history</a:t>
            </a:r>
          </a:p>
        </p:txBody>
      </p:sp>
      <p:sp>
        <p:nvSpPr>
          <p:cNvPr id="12" name="text-28">
            <a:extLst xmlns:a="http://schemas.openxmlformats.org/drawingml/2006/main">
              <a:ext uri="{FF2B5EF4-FFF2-40B4-BE49-F238E27FC236}">
                <a16:creationId xmlns:a16="http://schemas.microsoft.com/office/drawing/2014/main" id="{4A9438BE-8EB4-429C-BBD7-5321F410DC60}"/>
              </a:ext>
            </a:extLst>
          </p:cNvPr>
          <p:cNvSpPr>
            <a:spLocks xmlns:a="http://schemas.openxmlformats.org/drawingml/2006/main" noGrp="1"/>
          </p:cNvSpPr>
          <p:nvPr/>
        </p:nvSpPr>
        <p:spPr>
          <a:xfrm xmlns:a="http://schemas.openxmlformats.org/drawingml/2006/main">
            <a:off x="8858250" y="314325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Capture companion</a:t>
            </a:r>
          </a:p>
        </p:txBody>
      </p:sp>
      <p:sp>
        <p:nvSpPr>
          <p:cNvPr id="13" name="text-29">
            <a:extLst xmlns:a="http://schemas.openxmlformats.org/drawingml/2006/main">
              <a:ext uri="{FF2B5EF4-FFF2-40B4-BE49-F238E27FC236}">
                <a16:creationId xmlns:a16="http://schemas.microsoft.com/office/drawing/2014/main" id="{A82EF41D-A8CE-4820-9C1D-12D588C0360F}"/>
              </a:ext>
            </a:extLst>
          </p:cNvPr>
          <p:cNvSpPr>
            <a:spLocks xmlns:a="http://schemas.openxmlformats.org/drawingml/2006/main" noGrp="1"/>
          </p:cNvSpPr>
          <p:nvPr/>
        </p:nvSpPr>
        <p:spPr>
          <a:xfrm xmlns:a="http://schemas.openxmlformats.org/drawingml/2006/main">
            <a:off x="8858250" y="3657600"/>
            <a:ext cx="271462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D6560"/>
                </a:solidFill>
                <a:latin typeface="Helvetica Neue"/>
                <a:ea typeface="Helvetica Neue"/>
                <a:cs typeface="Helvetica Neue"/>
              </a:defRPr>
            </a:defPPr>
            <a:lvl1pPr>
              <a:defRPr sz="1950" b="0">
                <a:solidFill>
                  <a:srgbClr val="5D6560"/>
                </a:solidFill>
                <a:latin typeface="Helvetica Neue"/>
                <a:ea typeface="Helvetica Neue"/>
                <a:cs typeface="Helvetica Neue"/>
              </a:defRPr>
            </a:lvl1pPr>
            <a:lvl2pPr>
              <a:defRPr sz="1950" b="0">
                <a:solidFill>
                  <a:srgbClr val="5D6560"/>
                </a:solidFill>
                <a:latin typeface="Helvetica Neue"/>
                <a:ea typeface="Helvetica Neue"/>
                <a:cs typeface="Helvetica Neue"/>
              </a:defRPr>
            </a:lvl2pPr>
            <a:lvl3pPr>
              <a:defRPr sz="1950" b="0">
                <a:solidFill>
                  <a:srgbClr val="5D6560"/>
                </a:solidFill>
                <a:latin typeface="Helvetica Neue"/>
                <a:ea typeface="Helvetica Neue"/>
                <a:cs typeface="Helvetica Neue"/>
              </a:defRPr>
            </a:lvl3pPr>
            <a:lvl4pPr>
              <a:defRPr sz="1950" b="0">
                <a:solidFill>
                  <a:srgbClr val="5D6560"/>
                </a:solidFill>
                <a:latin typeface="Helvetica Neue"/>
                <a:ea typeface="Helvetica Neue"/>
                <a:cs typeface="Helvetica Neue"/>
              </a:defRPr>
            </a:lvl4pPr>
            <a:lvl5pPr>
              <a:defRPr sz="1950" b="0">
                <a:solidFill>
                  <a:srgbClr val="5D6560"/>
                </a:solidFill>
                <a:latin typeface="Helvetica Neue"/>
                <a:ea typeface="Helvetica Neue"/>
                <a:cs typeface="Helvetica Neue"/>
              </a:defRPr>
            </a:lvl5pPr>
            <a:lvl6pPr>
              <a:defRPr sz="1950" b="0">
                <a:solidFill>
                  <a:srgbClr val="5D6560"/>
                </a:solidFill>
                <a:latin typeface="Helvetica Neue"/>
                <a:ea typeface="Helvetica Neue"/>
                <a:cs typeface="Helvetica Neue"/>
              </a:defRPr>
            </a:lvl6pPr>
            <a:lvl7pPr>
              <a:defRPr sz="1950" b="0">
                <a:solidFill>
                  <a:srgbClr val="5D6560"/>
                </a:solidFill>
                <a:latin typeface="Helvetica Neue"/>
                <a:ea typeface="Helvetica Neue"/>
                <a:cs typeface="Helvetica Neue"/>
              </a:defRPr>
            </a:lvl7pPr>
            <a:lvl8pPr>
              <a:defRPr sz="1950" b="0">
                <a:solidFill>
                  <a:srgbClr val="5D6560"/>
                </a:solidFill>
                <a:latin typeface="Helvetica Neue"/>
                <a:ea typeface="Helvetica Neue"/>
                <a:cs typeface="Helvetica Neue"/>
              </a:defRPr>
            </a:lvl8pPr>
            <a:lvl9pPr>
              <a:defRPr sz="1950" b="0">
                <a:solidFill>
                  <a:srgbClr val="5D6560"/>
                </a:solidFill>
                <a:latin typeface="Helvetica Neue"/>
                <a:ea typeface="Helvetica Neue"/>
                <a:cs typeface="Helvetica Neue"/>
              </a:defRPr>
            </a:lvl9pPr>
          </a:lstStyle>
          <a:p xmlns:a="http://schemas.openxmlformats.org/drawingml/2006/main">
            <a:pPr>
              <a:defRPr sz="1950" b="0">
                <a:solidFill>
                  <a:srgbClr val="5D6560"/>
                </a:solidFill>
                <a:latin typeface="Helvetica Neue"/>
                <a:ea typeface="Helvetica Neue"/>
                <a:cs typeface="Helvetica Neue"/>
              </a:defRPr>
            </a:pPr>
            <a:r>
              <a:rPr sz="1950" b="0">
                <a:solidFill>
                  <a:srgbClr val="5D6560"/>
                </a:solidFill>
                <a:latin typeface="Helvetica Neue"/>
                <a:ea typeface="Helvetica Neue"/>
                <a:cs typeface="Helvetica Neue"/>
              </a:rPr>
              <a:t>HTTPS pairing verified</a:t>
            </a:r>
          </a:p>
          <a:p xmlns:a="http://schemas.openxmlformats.org/drawingml/2006/main">
            <a:pPr>
              <a:defRPr sz="1950" b="0">
                <a:solidFill>
                  <a:srgbClr val="5D6560"/>
                </a:solidFill>
                <a:latin typeface="Helvetica Neue"/>
                <a:ea typeface="Helvetica Neue"/>
                <a:cs typeface="Helvetica Neue"/>
              </a:defRPr>
            </a:pPr>
            <a:r>
              <a:rPr sz="1950" b="0">
                <a:solidFill>
                  <a:srgbClr val="5D6560"/>
                </a:solidFill>
                <a:latin typeface="Helvetica Neue"/>
                <a:ea typeface="Helvetica Neue"/>
                <a:cs typeface="Helvetica Neue"/>
              </a:rPr>
              <a:t>Real initial frames</a:t>
            </a:r>
          </a:p>
          <a:p xmlns:a="http://schemas.openxmlformats.org/drawingml/2006/main">
            <a:pPr>
              <a:defRPr sz="1950" b="0">
                <a:solidFill>
                  <a:srgbClr val="5D6560"/>
                </a:solidFill>
                <a:latin typeface="Helvetica Neue"/>
                <a:ea typeface="Helvetica Neue"/>
                <a:cs typeface="Helvetica Neue"/>
              </a:defRPr>
            </a:pPr>
            <a:r>
              <a:rPr sz="1950" b="0">
                <a:solidFill>
                  <a:srgbClr val="5D6560"/>
                </a:solidFill>
                <a:latin typeface="Helvetica Neue"/>
                <a:ea typeface="Helvetica Neue"/>
                <a:cs typeface="Helvetica Neue"/>
              </a:rPr>
              <a:t>USB disconnect blocks</a:t>
            </a:r>
          </a:p>
          <a:p xmlns:a="http://schemas.openxmlformats.org/drawingml/2006/main">
            <a:pPr>
              <a:defRPr sz="1950" b="0">
                <a:solidFill>
                  <a:srgbClr val="5D6560"/>
                </a:solidFill>
                <a:latin typeface="Helvetica Neue"/>
                <a:ea typeface="Helvetica Neue"/>
                <a:cs typeface="Helvetica Neue"/>
              </a:defRPr>
            </a:pPr>
            <a:r>
              <a:rPr sz="1950" b="0">
                <a:solidFill>
                  <a:srgbClr val="5D6560"/>
                </a:solidFill>
                <a:latin typeface="Helvetica Neue"/>
                <a:ea typeface="Helvetica Neue"/>
                <a:cs typeface="Helvetica Neue"/>
              </a:rPr>
              <a:t>sustained capture</a:t>
            </a:r>
          </a:p>
        </p:txBody>
      </p:sp>
    </p:spTree>
    <p:extLst>
      <p:ext uri="{BB962C8B-B14F-4D97-AF65-F5344CB8AC3E}">
        <p14:creationId xmlns:p14="http://schemas.microsoft.com/office/powerpoint/2010/main" val="13935457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30">
            <a:extLst xmlns:a="http://schemas.openxmlformats.org/drawingml/2006/main">
              <a:ext uri="{FF2B5EF4-FFF2-40B4-BE49-F238E27FC236}">
                <a16:creationId xmlns:a16="http://schemas.microsoft.com/office/drawing/2014/main" id="{BE68550D-ED57-49A3-8114-828C228CD6DA}"/>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Timing decisions use observed evidence</a:t>
            </a:r>
          </a:p>
        </p:txBody>
      </p:sp>
      <p:sp>
        <p:nvSpPr>
          <p:cNvPr id="2" name="text-31">
            <a:extLst xmlns:a="http://schemas.openxmlformats.org/drawingml/2006/main">
              <a:ext uri="{FF2B5EF4-FFF2-40B4-BE49-F238E27FC236}">
                <a16:creationId xmlns:a16="http://schemas.microsoft.com/office/drawing/2014/main" id="{636588D8-86C2-4591-878A-4EB0712189D1}"/>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04</a:t>
            </a:r>
          </a:p>
        </p:txBody>
      </p:sp>
      <p:sp>
        <p:nvSpPr>
          <p:cNvPr id="3" name="text-32">
            <a:extLst xmlns:a="http://schemas.openxmlformats.org/drawingml/2006/main">
              <a:ext uri="{FF2B5EF4-FFF2-40B4-BE49-F238E27FC236}">
                <a16:creationId xmlns:a16="http://schemas.microsoft.com/office/drawing/2014/main" id="{40BF0D1C-9B0E-4E55-808A-DAF0EB1B9199}"/>
              </a:ext>
            </a:extLst>
          </p:cNvPr>
          <p:cNvSpPr>
            <a:spLocks xmlns:a="http://schemas.openxmlformats.org/drawingml/2006/main" noGrp="1"/>
          </p:cNvSpPr>
          <p:nvPr/>
        </p:nvSpPr>
        <p:spPr>
          <a:xfrm xmlns:a="http://schemas.openxmlformats.org/drawingml/2006/main">
            <a:off x="762000" y="1695450"/>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Complete cycles count</a:t>
            </a:r>
          </a:p>
        </p:txBody>
      </p:sp>
      <p:sp>
        <p:nvSpPr>
          <p:cNvPr id="4" name="text-33">
            <a:extLst xmlns:a="http://schemas.openxmlformats.org/drawingml/2006/main">
              <a:ext uri="{FF2B5EF4-FFF2-40B4-BE49-F238E27FC236}">
                <a16:creationId xmlns:a16="http://schemas.microsoft.com/office/drawing/2014/main" id="{4DF71CC4-3DAD-40FE-84A2-1CF86F2C1363}"/>
              </a:ext>
            </a:extLst>
          </p:cNvPr>
          <p:cNvSpPr>
            <a:spLocks xmlns:a="http://schemas.openxmlformats.org/drawingml/2006/main" noGrp="1"/>
          </p:cNvSpPr>
          <p:nvPr/>
        </p:nvSpPr>
        <p:spPr>
          <a:xfrm xmlns:a="http://schemas.openxmlformats.org/drawingml/2006/main">
            <a:off x="762000" y="2085975"/>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Top, bottom, then top. A gap above 0.75s resets movement.</a:t>
            </a:r>
          </a:p>
        </p:txBody>
      </p:sp>
      <p:sp>
        <p:nvSpPr>
          <p:cNvPr id="5" name="text-34">
            <a:extLst xmlns:a="http://schemas.openxmlformats.org/drawingml/2006/main">
              <a:ext uri="{FF2B5EF4-FFF2-40B4-BE49-F238E27FC236}">
                <a16:creationId xmlns:a16="http://schemas.microsoft.com/office/drawing/2014/main" id="{DCFB640B-B985-474A-8A98-5565A572E6C7}"/>
              </a:ext>
            </a:extLst>
          </p:cNvPr>
          <p:cNvSpPr>
            <a:spLocks xmlns:a="http://schemas.openxmlformats.org/drawingml/2006/main" noGrp="1"/>
          </p:cNvSpPr>
          <p:nvPr/>
        </p:nvSpPr>
        <p:spPr>
          <a:xfrm xmlns:a="http://schemas.openxmlformats.org/drawingml/2006/main">
            <a:off x="762000" y="2828925"/>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Pacing uses prior reps</a:t>
            </a:r>
          </a:p>
        </p:txBody>
      </p:sp>
      <p:sp>
        <p:nvSpPr>
          <p:cNvPr id="6" name="text-35">
            <a:extLst xmlns:a="http://schemas.openxmlformats.org/drawingml/2006/main">
              <a:ext uri="{FF2B5EF4-FFF2-40B4-BE49-F238E27FC236}">
                <a16:creationId xmlns:a16="http://schemas.microsoft.com/office/drawing/2014/main" id="{84BAA558-F4BB-4C57-BEEE-B3439D5C7AA3}"/>
              </a:ext>
            </a:extLst>
          </p:cNvPr>
          <p:cNvSpPr>
            <a:spLocks xmlns:a="http://schemas.openxmlformats.org/drawingml/2006/main" noGrp="1"/>
          </p:cNvSpPr>
          <p:nvPr/>
        </p:nvSpPr>
        <p:spPr>
          <a:xfrm xmlns:a="http://schemas.openxmlformats.org/drawingml/2006/main">
            <a:off x="762000" y="3219450"/>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After five valid reps, flag duration above</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mean + max(sample SD, 0.25s).</a:t>
            </a:r>
          </a:p>
        </p:txBody>
      </p:sp>
      <p:sp>
        <p:nvSpPr>
          <p:cNvPr id="7" name="text-36">
            <a:extLst xmlns:a="http://schemas.openxmlformats.org/drawingml/2006/main">
              <a:ext uri="{FF2B5EF4-FFF2-40B4-BE49-F238E27FC236}">
                <a16:creationId xmlns:a16="http://schemas.microsoft.com/office/drawing/2014/main" id="{35D91104-8FB1-4B5B-B6CF-605479AC6DED}"/>
              </a:ext>
            </a:extLst>
          </p:cNvPr>
          <p:cNvSpPr>
            <a:spLocks xmlns:a="http://schemas.openxmlformats.org/drawingml/2006/main" noGrp="1"/>
          </p:cNvSpPr>
          <p:nvPr/>
        </p:nvSpPr>
        <p:spPr>
          <a:xfrm xmlns:a="http://schemas.openxmlformats.org/drawingml/2006/main">
            <a:off x="762000" y="3962400"/>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Stop takes priority</a:t>
            </a:r>
          </a:p>
        </p:txBody>
      </p:sp>
      <p:sp>
        <p:nvSpPr>
          <p:cNvPr id="8" name="text-37">
            <a:extLst xmlns:a="http://schemas.openxmlformats.org/drawingml/2006/main">
              <a:ext uri="{FF2B5EF4-FFF2-40B4-BE49-F238E27FC236}">
                <a16:creationId xmlns:a16="http://schemas.microsoft.com/office/drawing/2014/main" id="{E24D654F-CAED-424B-A812-EDDCCC54E9EE}"/>
              </a:ext>
            </a:extLst>
          </p:cNvPr>
          <p:cNvSpPr>
            <a:spLocks xmlns:a="http://schemas.openxmlformats.org/drawingml/2006/main" noGrp="1"/>
          </p:cNvSpPr>
          <p:nvPr/>
        </p:nvSpPr>
        <p:spPr>
          <a:xfrm xmlns:a="http://schemas.openxmlformats.org/drawingml/2006/main">
            <a:off x="762000" y="4352925"/>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Reported discomfort overrides ordinary cues.</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Pause and end cancel speech and old cues.</a:t>
            </a:r>
          </a:p>
        </p:txBody>
      </p:sp>
      <p:sp>
        <p:nvSpPr>
          <p:cNvPr id="9" name="text-38">
            <a:extLst xmlns:a="http://schemas.openxmlformats.org/drawingml/2006/main">
              <a:ext uri="{FF2B5EF4-FFF2-40B4-BE49-F238E27FC236}">
                <a16:creationId xmlns:a16="http://schemas.microsoft.com/office/drawing/2014/main" id="{DE776F29-5D2C-4DB6-82A5-4E86FF41D9F4}"/>
              </a:ext>
            </a:extLst>
          </p:cNvPr>
          <p:cNvSpPr>
            <a:spLocks xmlns:a="http://schemas.openxmlformats.org/drawingml/2006/main" noGrp="1"/>
          </p:cNvSpPr>
          <p:nvPr/>
        </p:nvSpPr>
        <p:spPr>
          <a:xfrm xmlns:a="http://schemas.openxmlformats.org/drawingml/2006/main">
            <a:off x="762000" y="5095875"/>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Sensor time stays explicit</a:t>
            </a:r>
          </a:p>
        </p:txBody>
      </p:sp>
      <p:sp>
        <p:nvSpPr>
          <p:cNvPr id="10" name="text-39">
            <a:extLst xmlns:a="http://schemas.openxmlformats.org/drawingml/2006/main">
              <a:ext uri="{FF2B5EF4-FFF2-40B4-BE49-F238E27FC236}">
                <a16:creationId xmlns:a16="http://schemas.microsoft.com/office/drawing/2014/main" id="{6C74F5BE-1554-4B9F-B159-38B2FAF5F860}"/>
              </a:ext>
            </a:extLst>
          </p:cNvPr>
          <p:cNvSpPr>
            <a:spLocks xmlns:a="http://schemas.openxmlformats.org/drawingml/2006/main" noGrp="1"/>
          </p:cNvSpPr>
          <p:nvPr/>
        </p:nvSpPr>
        <p:spPr>
          <a:xfrm xmlns:a="http://schemas.openxmlformats.org/drawingml/2006/main">
            <a:off x="762000" y="5486400"/>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Missing or stale Watch readings remain unavailable.</a:t>
            </a:r>
          </a:p>
        </p:txBody>
      </p:sp>
      <p:pic>
        <p:nvPicPr>
          <p:cNvPr id="11" name="">
            <a:extLst xmlns:a="http://schemas.openxmlformats.org/drawingml/2006/main">
              <a:ext uri="{FF2B5EF4-FFF2-40B4-BE49-F238E27FC236}">
                <a16:creationId xmlns:a16="http://schemas.microsoft.com/office/drawing/2014/main" id="{A9E20F9C-DCEC-4735-93EC-7AA12EE0ED44}"/>
              </a:ext>
            </a:extLst>
          </p:cNvPr>
          <p:cNvPicPr>
            <a:picLocks xmlns:a="http://schemas.openxmlformats.org/drawingml/2006/main" noChangeAspect="1"/>
          </p:cNvPicPr>
          <p:nvPr/>
        </p:nvPicPr>
        <p:blipFill>
          <a:blip xmlns:r="http://schemas.openxmlformats.org/officeDocument/2006/relationships" xmlns:a="http://schemas.openxmlformats.org/drawingml/2006/main" r:embed="Rb3e5f2fbe1e549c6"/>
          <a:stretch xmlns:a="http://schemas.openxmlformats.org/drawingml/2006/main"/>
        </p:blipFill>
        <p:spPr>
          <a:xfrm xmlns:a="http://schemas.openxmlformats.org/drawingml/2006/main">
            <a:off x="8844291" y="1666875"/>
            <a:ext cx="1551918" cy="1285875"/>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052358C0-67FB-498B-AA76-C1AF94C0A006}"/>
              </a:ext>
            </a:extLst>
          </p:cNvPr>
          <p:cNvPicPr>
            <a:picLocks xmlns:a="http://schemas.openxmlformats.org/drawingml/2006/main" noChangeAspect="1"/>
          </p:cNvPicPr>
          <p:nvPr/>
        </p:nvPicPr>
        <p:blipFill>
          <a:blip xmlns:r="http://schemas.openxmlformats.org/officeDocument/2006/relationships" xmlns:a="http://schemas.openxmlformats.org/drawingml/2006/main" r:embed="Rf92022089082473e"/>
          <a:stretch xmlns:a="http://schemas.openxmlformats.org/drawingml/2006/main"/>
        </p:blipFill>
        <p:spPr>
          <a:xfrm xmlns:a="http://schemas.openxmlformats.org/drawingml/2006/main">
            <a:off x="8844291" y="3143250"/>
            <a:ext cx="1551918" cy="1285875"/>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349B90A1-9F29-464D-8A22-3D13CE38F2D6}"/>
              </a:ext>
            </a:extLst>
          </p:cNvPr>
          <p:cNvPicPr>
            <a:picLocks xmlns:a="http://schemas.openxmlformats.org/drawingml/2006/main" noChangeAspect="1"/>
          </p:cNvPicPr>
          <p:nvPr/>
        </p:nvPicPr>
        <p:blipFill>
          <a:blip xmlns:r="http://schemas.openxmlformats.org/officeDocument/2006/relationships" xmlns:a="http://schemas.openxmlformats.org/drawingml/2006/main" r:embed="R5c04e0dcd2914ead"/>
          <a:stretch xmlns:a="http://schemas.openxmlformats.org/drawingml/2006/main"/>
        </p:blipFill>
        <p:spPr>
          <a:xfrm xmlns:a="http://schemas.openxmlformats.org/drawingml/2006/main">
            <a:off x="8844291" y="4619625"/>
            <a:ext cx="1551918" cy="1285875"/>
          </a:xfrm>
          <a:prstGeom xmlns:a="http://schemas.openxmlformats.org/drawingml/2006/main" prst="rect">
            <a:avLst/>
          </a:prstGeom>
        </p:spPr>
      </p:pic>
      <p:sp>
        <p:nvSpPr>
          <p:cNvPr id="14" name="text-40">
            <a:extLst xmlns:a="http://schemas.openxmlformats.org/drawingml/2006/main">
              <a:ext uri="{FF2B5EF4-FFF2-40B4-BE49-F238E27FC236}">
                <a16:creationId xmlns:a16="http://schemas.microsoft.com/office/drawing/2014/main" id="{EE277142-0F0E-4D55-9A44-D0BB0ED5C66F}"/>
              </a:ext>
            </a:extLst>
          </p:cNvPr>
          <p:cNvSpPr>
            <a:spLocks xmlns:a="http://schemas.openxmlformats.org/drawingml/2006/main" noGrp="1"/>
          </p:cNvSpPr>
          <p:nvPr/>
        </p:nvSpPr>
        <p:spPr>
          <a:xfrm xmlns:a="http://schemas.openxmlformats.org/drawingml/2006/main">
            <a:off x="8334375" y="60769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D6560"/>
                </a:solidFill>
                <a:latin typeface="Helvetica Neue"/>
                <a:ea typeface="Helvetica Neue"/>
                <a:cs typeface="Helvetica Neue"/>
              </a:defRPr>
            </a:defPPr>
            <a:lvl1pPr>
              <a:defRPr sz="1650" b="0">
                <a:solidFill>
                  <a:srgbClr val="5D6560"/>
                </a:solidFill>
                <a:latin typeface="Helvetica Neue"/>
                <a:ea typeface="Helvetica Neue"/>
                <a:cs typeface="Helvetica Neue"/>
              </a:defRPr>
            </a:lvl1pPr>
            <a:lvl2pPr>
              <a:defRPr sz="1650" b="0">
                <a:solidFill>
                  <a:srgbClr val="5D6560"/>
                </a:solidFill>
                <a:latin typeface="Helvetica Neue"/>
                <a:ea typeface="Helvetica Neue"/>
                <a:cs typeface="Helvetica Neue"/>
              </a:defRPr>
            </a:lvl2pPr>
            <a:lvl3pPr>
              <a:defRPr sz="1650" b="0">
                <a:solidFill>
                  <a:srgbClr val="5D6560"/>
                </a:solidFill>
                <a:latin typeface="Helvetica Neue"/>
                <a:ea typeface="Helvetica Neue"/>
                <a:cs typeface="Helvetica Neue"/>
              </a:defRPr>
            </a:lvl3pPr>
            <a:lvl4pPr>
              <a:defRPr sz="1650" b="0">
                <a:solidFill>
                  <a:srgbClr val="5D6560"/>
                </a:solidFill>
                <a:latin typeface="Helvetica Neue"/>
                <a:ea typeface="Helvetica Neue"/>
                <a:cs typeface="Helvetica Neue"/>
              </a:defRPr>
            </a:lvl4pPr>
            <a:lvl5pPr>
              <a:defRPr sz="1650" b="0">
                <a:solidFill>
                  <a:srgbClr val="5D6560"/>
                </a:solidFill>
                <a:latin typeface="Helvetica Neue"/>
                <a:ea typeface="Helvetica Neue"/>
                <a:cs typeface="Helvetica Neue"/>
              </a:defRPr>
            </a:lvl5pPr>
            <a:lvl6pPr>
              <a:defRPr sz="1650" b="0">
                <a:solidFill>
                  <a:srgbClr val="5D6560"/>
                </a:solidFill>
                <a:latin typeface="Helvetica Neue"/>
                <a:ea typeface="Helvetica Neue"/>
                <a:cs typeface="Helvetica Neue"/>
              </a:defRPr>
            </a:lvl6pPr>
            <a:lvl7pPr>
              <a:defRPr sz="1650" b="0">
                <a:solidFill>
                  <a:srgbClr val="5D6560"/>
                </a:solidFill>
                <a:latin typeface="Helvetica Neue"/>
                <a:ea typeface="Helvetica Neue"/>
                <a:cs typeface="Helvetica Neue"/>
              </a:defRPr>
            </a:lvl7pPr>
            <a:lvl8pPr>
              <a:defRPr sz="1650" b="0">
                <a:solidFill>
                  <a:srgbClr val="5D6560"/>
                </a:solidFill>
                <a:latin typeface="Helvetica Neue"/>
                <a:ea typeface="Helvetica Neue"/>
                <a:cs typeface="Helvetica Neue"/>
              </a:defRPr>
            </a:lvl8pPr>
            <a:lvl9pPr>
              <a:defRPr sz="1650" b="0">
                <a:solidFill>
                  <a:srgbClr val="5D6560"/>
                </a:solidFill>
                <a:latin typeface="Helvetica Neue"/>
                <a:ea typeface="Helvetica Neue"/>
                <a:cs typeface="Helvetica Neue"/>
              </a:defRPr>
            </a:lvl9pPr>
          </a:lstStyle>
          <a:p xmlns:a="http://schemas.openxmlformats.org/drawingml/2006/main">
            <a:pPr>
              <a:defRPr sz="1650" b="0">
                <a:solidFill>
                  <a:srgbClr val="5D6560"/>
                </a:solidFill>
                <a:latin typeface="Helvetica Neue"/>
                <a:ea typeface="Helvetica Neue"/>
                <a:cs typeface="Helvetica Neue"/>
              </a:defRPr>
            </a:pPr>
            <a:r>
              <a:rPr sz="1650" b="0">
                <a:solidFill>
                  <a:srgbClr val="5D6560"/>
                </a:solidFill>
                <a:latin typeface="Helvetica Neue"/>
                <a:ea typeface="Helvetica Neue"/>
                <a:cs typeface="Helvetica Neue"/>
              </a:rPr>
              <a:t>Illustrated phases</a:t>
            </a:r>
          </a:p>
        </p:txBody>
      </p:sp>
    </p:spTree>
    <p:extLst>
      <p:ext uri="{BB962C8B-B14F-4D97-AF65-F5344CB8AC3E}">
        <p14:creationId xmlns:p14="http://schemas.microsoft.com/office/powerpoint/2010/main" val="89934330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137B24FF-8CAB-46E0-A252-270B43C42D80}"/>
              </a:ext>
            </a:extLst>
          </p:cNvPr>
          <p:cNvCxnSpPr>
            <a:stCxn xmlns:a="http://schemas.openxmlformats.org/drawingml/2006/main" id="5" idx="3"/>
            <a:endCxn xmlns:a="http://schemas.openxmlformats.org/drawingml/2006/main" id="6" idx="1"/>
          </p:cNvCxnSpPr>
          <p:nvPr/>
        </p:nvCxnSpPr>
        <p:spPr>
          <a:xfrm xmlns:a="http://schemas.openxmlformats.org/drawingml/2006/main" flipV="1">
            <a:off x="3238500" y="3762375"/>
            <a:ext cx="1905000" cy="1085850"/>
          </a:xfrm>
          <a:prstGeom xmlns:a="http://schemas.openxmlformats.org/drawingml/2006/main" prst="bentConnector3">
            <a:avLst>
              <a:gd name="adj1" fmla="val 50000"/>
            </a:avLst>
          </a:prstGeom>
          <a:ln xmlns:a="http://schemas.openxmlformats.org/drawingml/2006/main" w="23813">
            <a:solidFill>
              <a:srgbClr val="216B49"/>
            </a:solidFill>
            <a:tailEnd type="triangle" w="sm" len="sm"/>
          </a:ln>
        </p:spPr>
      </p:cxnSp>
      <p:cxnSp>
        <p:nvCxnSpPr>
          <p:cNvPr id="7" name="">
            <a:extLst xmlns:a="http://schemas.openxmlformats.org/drawingml/2006/main">
              <a:ext uri="{FF2B5EF4-FFF2-40B4-BE49-F238E27FC236}">
                <a16:creationId xmlns:a16="http://schemas.microsoft.com/office/drawing/2014/main" id="{E97B5D5E-B6D6-4BAD-94D8-1CC23BEE9783}"/>
              </a:ext>
            </a:extLst>
          </p:cNvPr>
          <p:cNvCxnSpPr>
            <a:stCxn xmlns:a="http://schemas.openxmlformats.org/drawingml/2006/main" id="4" idx="3"/>
            <a:endCxn xmlns:a="http://schemas.openxmlformats.org/drawingml/2006/main" id="6" idx="1"/>
          </p:cNvCxnSpPr>
          <p:nvPr/>
        </p:nvCxnSpPr>
        <p:spPr>
          <a:xfrm xmlns:a="http://schemas.openxmlformats.org/drawingml/2006/main">
            <a:off x="3238500" y="2609850"/>
            <a:ext cx="1905000" cy="1152525"/>
          </a:xfrm>
          <a:prstGeom xmlns:a="http://schemas.openxmlformats.org/drawingml/2006/main" prst="bentConnector3">
            <a:avLst>
              <a:gd name="adj1" fmla="val 50000"/>
            </a:avLst>
          </a:prstGeom>
          <a:ln xmlns:a="http://schemas.openxmlformats.org/drawingml/2006/main" w="23813">
            <a:solidFill>
              <a:srgbClr val="216B49"/>
            </a:solidFill>
            <a:tailEnd type="triangle" w="sm" len="sm"/>
          </a:ln>
        </p:spPr>
      </p:cxnSp>
      <p:sp>
        <p:nvSpPr>
          <p:cNvPr id="13" name="text-41">
            <a:extLst xmlns:a="http://schemas.openxmlformats.org/drawingml/2006/main">
              <a:ext uri="{FF2B5EF4-FFF2-40B4-BE49-F238E27FC236}">
                <a16:creationId xmlns:a16="http://schemas.microsoft.com/office/drawing/2014/main" id="{3E6B2DCA-5D6D-48CB-B4D3-8481D1B92D03}"/>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Skills make recorded progress visible</a:t>
            </a:r>
          </a:p>
        </p:txBody>
      </p:sp>
      <p:sp>
        <p:nvSpPr>
          <p:cNvPr id="2" name="text-42">
            <a:extLst xmlns:a="http://schemas.openxmlformats.org/drawingml/2006/main">
              <a:ext uri="{FF2B5EF4-FFF2-40B4-BE49-F238E27FC236}">
                <a16:creationId xmlns:a16="http://schemas.microsoft.com/office/drawing/2014/main" id="{1689B586-A6CA-40FE-8ABA-47C2271BBC6C}"/>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05</a:t>
            </a:r>
          </a:p>
        </p:txBody>
      </p:sp>
      <p:sp>
        <p:nvSpPr>
          <p:cNvPr id="3" name="text-43">
            <a:extLst xmlns:a="http://schemas.openxmlformats.org/drawingml/2006/main">
              <a:ext uri="{FF2B5EF4-FFF2-40B4-BE49-F238E27FC236}">
                <a16:creationId xmlns:a16="http://schemas.microsoft.com/office/drawing/2014/main" id="{7663AB4B-DA4F-4A95-B44F-ED2B08CC2794}"/>
              </a:ext>
            </a:extLst>
          </p:cNvPr>
          <p:cNvSpPr>
            <a:spLocks xmlns:a="http://schemas.openxmlformats.org/drawingml/2006/main" noGrp="1"/>
          </p:cNvSpPr>
          <p:nvPr/>
        </p:nvSpPr>
        <p:spPr>
          <a:xfrm xmlns:a="http://schemas.openxmlformats.org/drawingml/2006/main">
            <a:off x="762000" y="14668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D6560"/>
                </a:solidFill>
                <a:latin typeface="Helvetica Neue"/>
                <a:ea typeface="Helvetica Neue"/>
                <a:cs typeface="Helvetica Neue"/>
              </a:defRPr>
            </a:defPPr>
            <a:lvl1pPr>
              <a:defRPr sz="2175" b="0">
                <a:solidFill>
                  <a:srgbClr val="5D6560"/>
                </a:solidFill>
                <a:latin typeface="Helvetica Neue"/>
                <a:ea typeface="Helvetica Neue"/>
                <a:cs typeface="Helvetica Neue"/>
              </a:defRPr>
            </a:lvl1pPr>
            <a:lvl2pPr>
              <a:defRPr sz="2175" b="0">
                <a:solidFill>
                  <a:srgbClr val="5D6560"/>
                </a:solidFill>
                <a:latin typeface="Helvetica Neue"/>
                <a:ea typeface="Helvetica Neue"/>
                <a:cs typeface="Helvetica Neue"/>
              </a:defRPr>
            </a:lvl2pPr>
            <a:lvl3pPr>
              <a:defRPr sz="2175" b="0">
                <a:solidFill>
                  <a:srgbClr val="5D6560"/>
                </a:solidFill>
                <a:latin typeface="Helvetica Neue"/>
                <a:ea typeface="Helvetica Neue"/>
                <a:cs typeface="Helvetica Neue"/>
              </a:defRPr>
            </a:lvl3pPr>
            <a:lvl4pPr>
              <a:defRPr sz="2175" b="0">
                <a:solidFill>
                  <a:srgbClr val="5D6560"/>
                </a:solidFill>
                <a:latin typeface="Helvetica Neue"/>
                <a:ea typeface="Helvetica Neue"/>
                <a:cs typeface="Helvetica Neue"/>
              </a:defRPr>
            </a:lvl4pPr>
            <a:lvl5pPr>
              <a:defRPr sz="2175" b="0">
                <a:solidFill>
                  <a:srgbClr val="5D6560"/>
                </a:solidFill>
                <a:latin typeface="Helvetica Neue"/>
                <a:ea typeface="Helvetica Neue"/>
                <a:cs typeface="Helvetica Neue"/>
              </a:defRPr>
            </a:lvl5pPr>
            <a:lvl6pPr>
              <a:defRPr sz="2175" b="0">
                <a:solidFill>
                  <a:srgbClr val="5D6560"/>
                </a:solidFill>
                <a:latin typeface="Helvetica Neue"/>
                <a:ea typeface="Helvetica Neue"/>
                <a:cs typeface="Helvetica Neue"/>
              </a:defRPr>
            </a:lvl6pPr>
            <a:lvl7pPr>
              <a:defRPr sz="2175" b="0">
                <a:solidFill>
                  <a:srgbClr val="5D6560"/>
                </a:solidFill>
                <a:latin typeface="Helvetica Neue"/>
                <a:ea typeface="Helvetica Neue"/>
                <a:cs typeface="Helvetica Neue"/>
              </a:defRPr>
            </a:lvl7pPr>
            <a:lvl8pPr>
              <a:defRPr sz="2175" b="0">
                <a:solidFill>
                  <a:srgbClr val="5D6560"/>
                </a:solidFill>
                <a:latin typeface="Helvetica Neue"/>
                <a:ea typeface="Helvetica Neue"/>
                <a:cs typeface="Helvetica Neue"/>
              </a:defRPr>
            </a:lvl8pPr>
            <a:lvl9pPr>
              <a:defRPr sz="2175" b="0">
                <a:solidFill>
                  <a:srgbClr val="5D6560"/>
                </a:solidFill>
                <a:latin typeface="Helvetica Neue"/>
                <a:ea typeface="Helvetica Neue"/>
                <a:cs typeface="Helvetica Neue"/>
              </a:defRPr>
            </a:lvl9pPr>
          </a:lstStyle>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19 exercises. Connected tree or linear list.</a:t>
            </a:r>
          </a:p>
        </p:txBody>
      </p:sp>
      <p:sp>
        <p:nvSpPr>
          <p:cNvPr id="4" name="diagram-44">
            <a:extLst xmlns:a="http://schemas.openxmlformats.org/drawingml/2006/main">
              <a:ext uri="{FF2B5EF4-FFF2-40B4-BE49-F238E27FC236}">
                <a16:creationId xmlns:a16="http://schemas.microsoft.com/office/drawing/2014/main" id="{1928419B-8DE9-49CA-A23F-E3C101BBF299}"/>
              </a:ext>
            </a:extLst>
          </p:cNvPr>
          <p:cNvSpPr>
            <a:spLocks xmlns:a="http://schemas.openxmlformats.org/drawingml/2006/main" noGrp="1"/>
          </p:cNvSpPr>
          <p:nvPr/>
        </p:nvSpPr>
        <p:spPr>
          <a:xfrm xmlns:a="http://schemas.openxmlformats.org/drawingml/2006/main">
            <a:off x="762000" y="2286000"/>
            <a:ext cx="2476500" cy="6477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Knee push-ups</a:t>
            </a:r>
          </a:p>
        </p:txBody>
      </p:sp>
      <p:sp>
        <p:nvSpPr>
          <p:cNvPr id="5" name="diagram-45">
            <a:extLst xmlns:a="http://schemas.openxmlformats.org/drawingml/2006/main">
              <a:ext uri="{FF2B5EF4-FFF2-40B4-BE49-F238E27FC236}">
                <a16:creationId xmlns:a16="http://schemas.microsoft.com/office/drawing/2014/main" id="{215DB424-58F5-439D-BFFB-46DAC1FD0780}"/>
              </a:ext>
            </a:extLst>
          </p:cNvPr>
          <p:cNvSpPr>
            <a:spLocks xmlns:a="http://schemas.openxmlformats.org/drawingml/2006/main" noGrp="1"/>
          </p:cNvSpPr>
          <p:nvPr/>
        </p:nvSpPr>
        <p:spPr>
          <a:xfrm xmlns:a="http://schemas.openxmlformats.org/drawingml/2006/main">
            <a:off x="762000" y="4524375"/>
            <a:ext cx="2476500" cy="6477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Forearm plank</a:t>
            </a:r>
          </a:p>
        </p:txBody>
      </p:sp>
      <p:sp>
        <p:nvSpPr>
          <p:cNvPr id="6" name="diagram-46">
            <a:extLst xmlns:a="http://schemas.openxmlformats.org/drawingml/2006/main">
              <a:ext uri="{FF2B5EF4-FFF2-40B4-BE49-F238E27FC236}">
                <a16:creationId xmlns:a16="http://schemas.microsoft.com/office/drawing/2014/main" id="{5EEFC38F-52A4-4B66-A90E-21D595C0CB1F}"/>
              </a:ext>
            </a:extLst>
          </p:cNvPr>
          <p:cNvSpPr>
            <a:spLocks xmlns:a="http://schemas.openxmlformats.org/drawingml/2006/main" noGrp="1"/>
          </p:cNvSpPr>
          <p:nvPr/>
        </p:nvSpPr>
        <p:spPr>
          <a:xfrm xmlns:a="http://schemas.openxmlformats.org/drawingml/2006/main">
            <a:off x="5143500" y="3381375"/>
            <a:ext cx="2238375"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Push-ups</a:t>
            </a:r>
          </a:p>
        </p:txBody>
      </p:sp>
      <p:sp>
        <p:nvSpPr>
          <p:cNvPr id="9" name="text-47">
            <a:extLst xmlns:a="http://schemas.openxmlformats.org/drawingml/2006/main">
              <a:ext uri="{FF2B5EF4-FFF2-40B4-BE49-F238E27FC236}">
                <a16:creationId xmlns:a16="http://schemas.microsoft.com/office/drawing/2014/main" id="{89AE67C6-CAE3-44EC-82C3-6412692E25A0}"/>
              </a:ext>
            </a:extLst>
          </p:cNvPr>
          <p:cNvSpPr>
            <a:spLocks xmlns:a="http://schemas.openxmlformats.org/drawingml/2006/main" noGrp="1"/>
          </p:cNvSpPr>
          <p:nvPr/>
        </p:nvSpPr>
        <p:spPr>
          <a:xfrm xmlns:a="http://schemas.openxmlformats.org/drawingml/2006/main">
            <a:off x="762000" y="5915025"/>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One unlock example</a:t>
            </a:r>
          </a:p>
        </p:txBody>
      </p:sp>
      <p:sp>
        <p:nvSpPr>
          <p:cNvPr id="10" name="text-48">
            <a:extLst xmlns:a="http://schemas.openxmlformats.org/drawingml/2006/main">
              <a:ext uri="{FF2B5EF4-FFF2-40B4-BE49-F238E27FC236}">
                <a16:creationId xmlns:a16="http://schemas.microsoft.com/office/drawing/2014/main" id="{9DB8B8BD-EBBA-40AF-B9C3-ACF8E72A4D3F}"/>
              </a:ext>
            </a:extLst>
          </p:cNvPr>
          <p:cNvSpPr>
            <a:spLocks xmlns:a="http://schemas.openxmlformats.org/drawingml/2006/main" noGrp="1"/>
          </p:cNvSpPr>
          <p:nvPr/>
        </p:nvSpPr>
        <p:spPr>
          <a:xfrm xmlns:a="http://schemas.openxmlformats.org/drawingml/2006/main">
            <a:off x="8239125" y="2266950"/>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141414"/>
                </a:solidFill>
                <a:latin typeface="Helvetica Neue"/>
                <a:ea typeface="Helvetica Neue"/>
                <a:cs typeface="Helvetica Neue"/>
              </a:defRPr>
            </a:defPPr>
            <a:lvl1pPr>
              <a:defRPr sz="2625" b="1">
                <a:solidFill>
                  <a:srgbClr val="141414"/>
                </a:solidFill>
                <a:latin typeface="Helvetica Neue"/>
                <a:ea typeface="Helvetica Neue"/>
                <a:cs typeface="Helvetica Neue"/>
              </a:defRPr>
            </a:lvl1pPr>
            <a:lvl2pPr>
              <a:defRPr sz="2625" b="1">
                <a:solidFill>
                  <a:srgbClr val="141414"/>
                </a:solidFill>
                <a:latin typeface="Helvetica Neue"/>
                <a:ea typeface="Helvetica Neue"/>
                <a:cs typeface="Helvetica Neue"/>
              </a:defRPr>
            </a:lvl2pPr>
            <a:lvl3pPr>
              <a:defRPr sz="2625" b="1">
                <a:solidFill>
                  <a:srgbClr val="141414"/>
                </a:solidFill>
                <a:latin typeface="Helvetica Neue"/>
                <a:ea typeface="Helvetica Neue"/>
                <a:cs typeface="Helvetica Neue"/>
              </a:defRPr>
            </a:lvl3pPr>
            <a:lvl4pPr>
              <a:defRPr sz="2625" b="1">
                <a:solidFill>
                  <a:srgbClr val="141414"/>
                </a:solidFill>
                <a:latin typeface="Helvetica Neue"/>
                <a:ea typeface="Helvetica Neue"/>
                <a:cs typeface="Helvetica Neue"/>
              </a:defRPr>
            </a:lvl4pPr>
            <a:lvl5pPr>
              <a:defRPr sz="2625" b="1">
                <a:solidFill>
                  <a:srgbClr val="141414"/>
                </a:solidFill>
                <a:latin typeface="Helvetica Neue"/>
                <a:ea typeface="Helvetica Neue"/>
                <a:cs typeface="Helvetica Neue"/>
              </a:defRPr>
            </a:lvl5pPr>
            <a:lvl6pPr>
              <a:defRPr sz="2625" b="1">
                <a:solidFill>
                  <a:srgbClr val="141414"/>
                </a:solidFill>
                <a:latin typeface="Helvetica Neue"/>
                <a:ea typeface="Helvetica Neue"/>
                <a:cs typeface="Helvetica Neue"/>
              </a:defRPr>
            </a:lvl6pPr>
            <a:lvl7pPr>
              <a:defRPr sz="2625" b="1">
                <a:solidFill>
                  <a:srgbClr val="141414"/>
                </a:solidFill>
                <a:latin typeface="Helvetica Neue"/>
                <a:ea typeface="Helvetica Neue"/>
                <a:cs typeface="Helvetica Neue"/>
              </a:defRPr>
            </a:lvl7pPr>
            <a:lvl8pPr>
              <a:defRPr sz="2625" b="1">
                <a:solidFill>
                  <a:srgbClr val="141414"/>
                </a:solidFill>
                <a:latin typeface="Helvetica Neue"/>
                <a:ea typeface="Helvetica Neue"/>
                <a:cs typeface="Helvetica Neue"/>
              </a:defRPr>
            </a:lvl8pPr>
            <a:lvl9pPr>
              <a:defRPr sz="2625" b="1">
                <a:solidFill>
                  <a:srgbClr val="141414"/>
                </a:solidFill>
                <a:latin typeface="Helvetica Neue"/>
                <a:ea typeface="Helvetica Neue"/>
                <a:cs typeface="Helvetica Neue"/>
              </a:defRPr>
            </a:lvl9pPr>
          </a:lstStyle>
          <a:p xmlns:a="http://schemas.openxmlformats.org/drawingml/2006/main">
            <a:pPr>
              <a:defRPr sz="2625" b="1">
                <a:solidFill>
                  <a:srgbClr val="141414"/>
                </a:solidFill>
                <a:latin typeface="Helvetica Neue"/>
                <a:ea typeface="Helvetica Neue"/>
                <a:cs typeface="Helvetica Neue"/>
              </a:defRPr>
            </a:pPr>
            <a:r>
              <a:rPr sz="2625" b="1">
                <a:solidFill>
                  <a:srgbClr val="141414"/>
                </a:solidFill>
                <a:latin typeface="Helvetica Neue"/>
                <a:ea typeface="Helvetica Neue"/>
                <a:cs typeface="Helvetica Neue"/>
              </a:rPr>
              <a:t>3 qualifying sets</a:t>
            </a:r>
          </a:p>
          <a:p xmlns:a="http://schemas.openxmlformats.org/drawingml/2006/main">
            <a:pPr>
              <a:defRPr sz="2625" b="1">
                <a:solidFill>
                  <a:srgbClr val="141414"/>
                </a:solidFill>
                <a:latin typeface="Helvetica Neue"/>
                <a:ea typeface="Helvetica Neue"/>
                <a:cs typeface="Helvetica Neue"/>
              </a:defRPr>
            </a:pPr>
            <a:r>
              <a:rPr sz="2625" b="1">
                <a:solidFill>
                  <a:srgbClr val="141414"/>
                </a:solidFill>
                <a:latin typeface="Helvetica Neue"/>
                <a:ea typeface="Helvetica Neue"/>
                <a:cs typeface="Helvetica Neue"/>
              </a:rPr>
              <a:t>across 2 days</a:t>
            </a:r>
          </a:p>
        </p:txBody>
      </p:sp>
      <p:sp>
        <p:nvSpPr>
          <p:cNvPr id="11" name="text-49">
            <a:extLst xmlns:a="http://schemas.openxmlformats.org/drawingml/2006/main">
              <a:ext uri="{FF2B5EF4-FFF2-40B4-BE49-F238E27FC236}">
                <a16:creationId xmlns:a16="http://schemas.microsoft.com/office/drawing/2014/main" id="{95AF7DE4-B17F-4AC4-B836-868455D5ED85}"/>
              </a:ext>
            </a:extLst>
          </p:cNvPr>
          <p:cNvSpPr>
            <a:spLocks xmlns:a="http://schemas.openxmlformats.org/drawingml/2006/main" noGrp="1"/>
          </p:cNvSpPr>
          <p:nvPr/>
        </p:nvSpPr>
        <p:spPr>
          <a:xfrm xmlns:a="http://schemas.openxmlformats.org/drawingml/2006/main">
            <a:off x="8239125" y="3571875"/>
            <a:ext cx="314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All prerequisites complete.</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Practice remains open.</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Sources stay visible.</a:t>
            </a:r>
          </a:p>
        </p:txBody>
      </p:sp>
      <p:sp>
        <p:nvSpPr>
          <p:cNvPr id="12" name="text-50">
            <a:extLst xmlns:a="http://schemas.openxmlformats.org/drawingml/2006/main">
              <a:ext uri="{FF2B5EF4-FFF2-40B4-BE49-F238E27FC236}">
                <a16:creationId xmlns:a16="http://schemas.microsoft.com/office/drawing/2014/main" id="{B929AE7A-9C47-4BF2-A7E4-0D2A7D00AE50}"/>
              </a:ext>
            </a:extLst>
          </p:cNvPr>
          <p:cNvSpPr>
            <a:spLocks xmlns:a="http://schemas.openxmlformats.org/drawingml/2006/main" noGrp="1"/>
          </p:cNvSpPr>
          <p:nvPr/>
        </p:nvSpPr>
        <p:spPr>
          <a:xfrm xmlns:a="http://schemas.openxmlformats.org/drawingml/2006/main">
            <a:off x="8239125" y="5238750"/>
            <a:ext cx="314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560"/>
                </a:solidFill>
                <a:latin typeface="Helvetica Neue"/>
                <a:ea typeface="Helvetica Neue"/>
                <a:cs typeface="Helvetica Neue"/>
              </a:defRPr>
            </a:defPPr>
            <a:lvl1pPr>
              <a:defRPr sz="1800" b="0">
                <a:solidFill>
                  <a:srgbClr val="5D6560"/>
                </a:solidFill>
                <a:latin typeface="Helvetica Neue"/>
                <a:ea typeface="Helvetica Neue"/>
                <a:cs typeface="Helvetica Neue"/>
              </a:defRPr>
            </a:lvl1pPr>
            <a:lvl2pPr>
              <a:defRPr sz="1800" b="0">
                <a:solidFill>
                  <a:srgbClr val="5D6560"/>
                </a:solidFill>
                <a:latin typeface="Helvetica Neue"/>
                <a:ea typeface="Helvetica Neue"/>
                <a:cs typeface="Helvetica Neue"/>
              </a:defRPr>
            </a:lvl2pPr>
            <a:lvl3pPr>
              <a:defRPr sz="1800" b="0">
                <a:solidFill>
                  <a:srgbClr val="5D6560"/>
                </a:solidFill>
                <a:latin typeface="Helvetica Neue"/>
                <a:ea typeface="Helvetica Neue"/>
                <a:cs typeface="Helvetica Neue"/>
              </a:defRPr>
            </a:lvl3pPr>
            <a:lvl4pPr>
              <a:defRPr sz="1800" b="0">
                <a:solidFill>
                  <a:srgbClr val="5D6560"/>
                </a:solidFill>
                <a:latin typeface="Helvetica Neue"/>
                <a:ea typeface="Helvetica Neue"/>
                <a:cs typeface="Helvetica Neue"/>
              </a:defRPr>
            </a:lvl4pPr>
            <a:lvl5pPr>
              <a:defRPr sz="1800" b="0">
                <a:solidFill>
                  <a:srgbClr val="5D6560"/>
                </a:solidFill>
                <a:latin typeface="Helvetica Neue"/>
                <a:ea typeface="Helvetica Neue"/>
                <a:cs typeface="Helvetica Neue"/>
              </a:defRPr>
            </a:lvl5pPr>
            <a:lvl6pPr>
              <a:defRPr sz="1800" b="0">
                <a:solidFill>
                  <a:srgbClr val="5D6560"/>
                </a:solidFill>
                <a:latin typeface="Helvetica Neue"/>
                <a:ea typeface="Helvetica Neue"/>
                <a:cs typeface="Helvetica Neue"/>
              </a:defRPr>
            </a:lvl6pPr>
            <a:lvl7pPr>
              <a:defRPr sz="1800" b="0">
                <a:solidFill>
                  <a:srgbClr val="5D6560"/>
                </a:solidFill>
                <a:latin typeface="Helvetica Neue"/>
                <a:ea typeface="Helvetica Neue"/>
                <a:cs typeface="Helvetica Neue"/>
              </a:defRPr>
            </a:lvl7pPr>
            <a:lvl8pPr>
              <a:defRPr sz="1800" b="0">
                <a:solidFill>
                  <a:srgbClr val="5D6560"/>
                </a:solidFill>
                <a:latin typeface="Helvetica Neue"/>
                <a:ea typeface="Helvetica Neue"/>
                <a:cs typeface="Helvetica Neue"/>
              </a:defRPr>
            </a:lvl8pPr>
            <a:lvl9pPr>
              <a:defRPr sz="1800" b="0">
                <a:solidFill>
                  <a:srgbClr val="5D6560"/>
                </a:solidFill>
                <a:latin typeface="Helvetica Neue"/>
                <a:ea typeface="Helvetica Neue"/>
                <a:cs typeface="Helvetica Neue"/>
              </a:defRPr>
            </a:lvl9pPr>
          </a:lstStyle>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Replay and discomfort</a:t>
            </a:r>
          </a:p>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do not earn completion.</a:t>
            </a:r>
          </a:p>
        </p:txBody>
      </p:sp>
    </p:spTree>
    <p:extLst>
      <p:ext uri="{BB962C8B-B14F-4D97-AF65-F5344CB8AC3E}">
        <p14:creationId xmlns:p14="http://schemas.microsoft.com/office/powerpoint/2010/main" val="82788881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ext-51">
            <a:extLst xmlns:a="http://schemas.openxmlformats.org/drawingml/2006/main">
              <a:ext uri="{FF2B5EF4-FFF2-40B4-BE49-F238E27FC236}">
                <a16:creationId xmlns:a16="http://schemas.microsoft.com/office/drawing/2014/main" id="{AE2E6828-BE1D-4C5D-A987-9A30E04FD894}"/>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Four Gemini requests share a grounded contract</a:t>
            </a:r>
          </a:p>
        </p:txBody>
      </p:sp>
      <p:sp>
        <p:nvSpPr>
          <p:cNvPr id="2" name="text-52">
            <a:extLst xmlns:a="http://schemas.openxmlformats.org/drawingml/2006/main">
              <a:ext uri="{FF2B5EF4-FFF2-40B4-BE49-F238E27FC236}">
                <a16:creationId xmlns:a16="http://schemas.microsoft.com/office/drawing/2014/main" id="{9F9BDA60-6421-4569-B7CD-436327F44A36}"/>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06</a:t>
            </a:r>
          </a:p>
        </p:txBody>
      </p:sp>
      <p:sp>
        <p:nvSpPr>
          <p:cNvPr id="3" name="text-53">
            <a:extLst xmlns:a="http://schemas.openxmlformats.org/drawingml/2006/main">
              <a:ext uri="{FF2B5EF4-FFF2-40B4-BE49-F238E27FC236}">
                <a16:creationId xmlns:a16="http://schemas.microsoft.com/office/drawing/2014/main" id="{1A9DFF59-9E42-4ADE-B01E-7786BC74C059}"/>
              </a:ext>
            </a:extLst>
          </p:cNvPr>
          <p:cNvSpPr>
            <a:spLocks xmlns:a="http://schemas.openxmlformats.org/drawingml/2006/main" noGrp="1"/>
          </p:cNvSpPr>
          <p:nvPr/>
        </p:nvSpPr>
        <p:spPr>
          <a:xfrm xmlns:a="http://schemas.openxmlformats.org/drawingml/2006/main">
            <a:off x="762000" y="1847850"/>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16B49"/>
                </a:solidFill>
                <a:latin typeface="Helvetica Neue"/>
                <a:ea typeface="Helvetica Neue"/>
                <a:cs typeface="Helvetica Neue"/>
              </a:defRPr>
            </a:defPPr>
            <a:lvl1pPr>
              <a:defRPr sz="2625" b="1">
                <a:solidFill>
                  <a:srgbClr val="216B49"/>
                </a:solidFill>
                <a:latin typeface="Helvetica Neue"/>
                <a:ea typeface="Helvetica Neue"/>
                <a:cs typeface="Helvetica Neue"/>
              </a:defRPr>
            </a:lvl1pPr>
            <a:lvl2pPr>
              <a:defRPr sz="2625" b="1">
                <a:solidFill>
                  <a:srgbClr val="216B49"/>
                </a:solidFill>
                <a:latin typeface="Helvetica Neue"/>
                <a:ea typeface="Helvetica Neue"/>
                <a:cs typeface="Helvetica Neue"/>
              </a:defRPr>
            </a:lvl2pPr>
            <a:lvl3pPr>
              <a:defRPr sz="2625" b="1">
                <a:solidFill>
                  <a:srgbClr val="216B49"/>
                </a:solidFill>
                <a:latin typeface="Helvetica Neue"/>
                <a:ea typeface="Helvetica Neue"/>
                <a:cs typeface="Helvetica Neue"/>
              </a:defRPr>
            </a:lvl3pPr>
            <a:lvl4pPr>
              <a:defRPr sz="2625" b="1">
                <a:solidFill>
                  <a:srgbClr val="216B49"/>
                </a:solidFill>
                <a:latin typeface="Helvetica Neue"/>
                <a:ea typeface="Helvetica Neue"/>
                <a:cs typeface="Helvetica Neue"/>
              </a:defRPr>
            </a:lvl4pPr>
            <a:lvl5pPr>
              <a:defRPr sz="2625" b="1">
                <a:solidFill>
                  <a:srgbClr val="216B49"/>
                </a:solidFill>
                <a:latin typeface="Helvetica Neue"/>
                <a:ea typeface="Helvetica Neue"/>
                <a:cs typeface="Helvetica Neue"/>
              </a:defRPr>
            </a:lvl5pPr>
            <a:lvl6pPr>
              <a:defRPr sz="2625" b="1">
                <a:solidFill>
                  <a:srgbClr val="216B49"/>
                </a:solidFill>
                <a:latin typeface="Helvetica Neue"/>
                <a:ea typeface="Helvetica Neue"/>
                <a:cs typeface="Helvetica Neue"/>
              </a:defRPr>
            </a:lvl6pPr>
            <a:lvl7pPr>
              <a:defRPr sz="2625" b="1">
                <a:solidFill>
                  <a:srgbClr val="216B49"/>
                </a:solidFill>
                <a:latin typeface="Helvetica Neue"/>
                <a:ea typeface="Helvetica Neue"/>
                <a:cs typeface="Helvetica Neue"/>
              </a:defRPr>
            </a:lvl7pPr>
            <a:lvl8pPr>
              <a:defRPr sz="2625" b="1">
                <a:solidFill>
                  <a:srgbClr val="216B49"/>
                </a:solidFill>
                <a:latin typeface="Helvetica Neue"/>
                <a:ea typeface="Helvetica Neue"/>
                <a:cs typeface="Helvetica Neue"/>
              </a:defRPr>
            </a:lvl8pPr>
            <a:lvl9pPr>
              <a:defRPr sz="2625" b="1">
                <a:solidFill>
                  <a:srgbClr val="216B49"/>
                </a:solidFill>
                <a:latin typeface="Helvetica Neue"/>
                <a:ea typeface="Helvetica Neue"/>
                <a:cs typeface="Helvetica Neue"/>
              </a:defRPr>
            </a:lvl9pPr>
          </a:lstStyle>
          <a:p xmlns:a="http://schemas.openxmlformats.org/drawingml/2006/main">
            <a:pPr>
              <a:defRPr sz="2625" b="1">
                <a:solidFill>
                  <a:srgbClr val="216B49"/>
                </a:solidFill>
                <a:latin typeface="Helvetica Neue"/>
                <a:ea typeface="Helvetica Neue"/>
                <a:cs typeface="Helvetica Neue"/>
              </a:defRPr>
            </a:pPr>
            <a:r>
              <a:rPr sz="2625" b="1">
                <a:solidFill>
                  <a:srgbClr val="216B49"/>
                </a:solidFill>
                <a:latin typeface="Helvetica Neue"/>
                <a:ea typeface="Helvetica Neue"/>
                <a:cs typeface="Helvetica Neue"/>
              </a:rPr>
              <a:t>01</a:t>
            </a:r>
          </a:p>
        </p:txBody>
      </p:sp>
      <p:sp>
        <p:nvSpPr>
          <p:cNvPr id="4" name="text-54">
            <a:extLst xmlns:a="http://schemas.openxmlformats.org/drawingml/2006/main">
              <a:ext uri="{FF2B5EF4-FFF2-40B4-BE49-F238E27FC236}">
                <a16:creationId xmlns:a16="http://schemas.microsoft.com/office/drawing/2014/main" id="{78A4DC51-83D5-408E-A21A-1614268741DE}"/>
              </a:ext>
            </a:extLst>
          </p:cNvPr>
          <p:cNvSpPr>
            <a:spLocks xmlns:a="http://schemas.openxmlformats.org/drawingml/2006/main" noGrp="1"/>
          </p:cNvSpPr>
          <p:nvPr/>
        </p:nvSpPr>
        <p:spPr>
          <a:xfrm xmlns:a="http://schemas.openxmlformats.org/drawingml/2006/main">
            <a:off x="1676400" y="184785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41414"/>
                </a:solidFill>
                <a:latin typeface="Helvetica Neue"/>
                <a:ea typeface="Helvetica Neue"/>
                <a:cs typeface="Helvetica Neue"/>
              </a:defRPr>
            </a:defPPr>
            <a:lvl1pPr>
              <a:defRPr sz="2400" b="1">
                <a:solidFill>
                  <a:srgbClr val="141414"/>
                </a:solidFill>
                <a:latin typeface="Helvetica Neue"/>
                <a:ea typeface="Helvetica Neue"/>
                <a:cs typeface="Helvetica Neue"/>
              </a:defRPr>
            </a:lvl1pPr>
            <a:lvl2pPr>
              <a:defRPr sz="2400" b="1">
                <a:solidFill>
                  <a:srgbClr val="141414"/>
                </a:solidFill>
                <a:latin typeface="Helvetica Neue"/>
                <a:ea typeface="Helvetica Neue"/>
                <a:cs typeface="Helvetica Neue"/>
              </a:defRPr>
            </a:lvl2pPr>
            <a:lvl3pPr>
              <a:defRPr sz="2400" b="1">
                <a:solidFill>
                  <a:srgbClr val="141414"/>
                </a:solidFill>
                <a:latin typeface="Helvetica Neue"/>
                <a:ea typeface="Helvetica Neue"/>
                <a:cs typeface="Helvetica Neue"/>
              </a:defRPr>
            </a:lvl3pPr>
            <a:lvl4pPr>
              <a:defRPr sz="2400" b="1">
                <a:solidFill>
                  <a:srgbClr val="141414"/>
                </a:solidFill>
                <a:latin typeface="Helvetica Neue"/>
                <a:ea typeface="Helvetica Neue"/>
                <a:cs typeface="Helvetica Neue"/>
              </a:defRPr>
            </a:lvl4pPr>
            <a:lvl5pPr>
              <a:defRPr sz="2400" b="1">
                <a:solidFill>
                  <a:srgbClr val="141414"/>
                </a:solidFill>
                <a:latin typeface="Helvetica Neue"/>
                <a:ea typeface="Helvetica Neue"/>
                <a:cs typeface="Helvetica Neue"/>
              </a:defRPr>
            </a:lvl5pPr>
            <a:lvl6pPr>
              <a:defRPr sz="2400" b="1">
                <a:solidFill>
                  <a:srgbClr val="141414"/>
                </a:solidFill>
                <a:latin typeface="Helvetica Neue"/>
                <a:ea typeface="Helvetica Neue"/>
                <a:cs typeface="Helvetica Neue"/>
              </a:defRPr>
            </a:lvl6pPr>
            <a:lvl7pPr>
              <a:defRPr sz="2400" b="1">
                <a:solidFill>
                  <a:srgbClr val="141414"/>
                </a:solidFill>
                <a:latin typeface="Helvetica Neue"/>
                <a:ea typeface="Helvetica Neue"/>
                <a:cs typeface="Helvetica Neue"/>
              </a:defRPr>
            </a:lvl7pPr>
            <a:lvl8pPr>
              <a:defRPr sz="2400" b="1">
                <a:solidFill>
                  <a:srgbClr val="141414"/>
                </a:solidFill>
                <a:latin typeface="Helvetica Neue"/>
                <a:ea typeface="Helvetica Neue"/>
                <a:cs typeface="Helvetica Neue"/>
              </a:defRPr>
            </a:lvl8pPr>
            <a:lvl9pPr>
              <a:defRPr sz="2400" b="1">
                <a:solidFill>
                  <a:srgbClr val="141414"/>
                </a:solidFill>
                <a:latin typeface="Helvetica Neue"/>
                <a:ea typeface="Helvetica Neue"/>
                <a:cs typeface="Helvetica Neue"/>
              </a:defRPr>
            </a:lvl9pPr>
          </a:lstStyle>
          <a:p xmlns:a="http://schemas.openxmlformats.org/drawingml/2006/main">
            <a:pPr>
              <a:defRPr sz="2400" b="1">
                <a:solidFill>
                  <a:srgbClr val="141414"/>
                </a:solidFill>
                <a:latin typeface="Helvetica Neue"/>
                <a:ea typeface="Helvetica Neue"/>
                <a:cs typeface="Helvetica Neue"/>
              </a:defRPr>
            </a:pPr>
            <a:r>
              <a:rPr sz="2400" b="1">
                <a:solidFill>
                  <a:srgbClr val="141414"/>
                </a:solidFill>
                <a:latin typeface="Helvetica Neue"/>
                <a:ea typeface="Helvetica Neue"/>
                <a:cs typeface="Helvetica Neue"/>
              </a:rPr>
              <a:t>Chat</a:t>
            </a:r>
          </a:p>
        </p:txBody>
      </p:sp>
      <p:sp>
        <p:nvSpPr>
          <p:cNvPr id="5" name="text-55">
            <a:extLst xmlns:a="http://schemas.openxmlformats.org/drawingml/2006/main">
              <a:ext uri="{FF2B5EF4-FFF2-40B4-BE49-F238E27FC236}">
                <a16:creationId xmlns:a16="http://schemas.microsoft.com/office/drawing/2014/main" id="{D7BB496D-30D3-447D-8934-1BE1DAD78029}"/>
              </a:ext>
            </a:extLst>
          </p:cNvPr>
          <p:cNvSpPr>
            <a:spLocks xmlns:a="http://schemas.openxmlformats.org/drawingml/2006/main" noGrp="1"/>
          </p:cNvSpPr>
          <p:nvPr/>
        </p:nvSpPr>
        <p:spPr>
          <a:xfrm xmlns:a="http://schemas.openxmlformats.org/drawingml/2006/main">
            <a:off x="762000" y="2714625"/>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16B49"/>
                </a:solidFill>
                <a:latin typeface="Helvetica Neue"/>
                <a:ea typeface="Helvetica Neue"/>
                <a:cs typeface="Helvetica Neue"/>
              </a:defRPr>
            </a:defPPr>
            <a:lvl1pPr>
              <a:defRPr sz="2625" b="1">
                <a:solidFill>
                  <a:srgbClr val="216B49"/>
                </a:solidFill>
                <a:latin typeface="Helvetica Neue"/>
                <a:ea typeface="Helvetica Neue"/>
                <a:cs typeface="Helvetica Neue"/>
              </a:defRPr>
            </a:lvl1pPr>
            <a:lvl2pPr>
              <a:defRPr sz="2625" b="1">
                <a:solidFill>
                  <a:srgbClr val="216B49"/>
                </a:solidFill>
                <a:latin typeface="Helvetica Neue"/>
                <a:ea typeface="Helvetica Neue"/>
                <a:cs typeface="Helvetica Neue"/>
              </a:defRPr>
            </a:lvl2pPr>
            <a:lvl3pPr>
              <a:defRPr sz="2625" b="1">
                <a:solidFill>
                  <a:srgbClr val="216B49"/>
                </a:solidFill>
                <a:latin typeface="Helvetica Neue"/>
                <a:ea typeface="Helvetica Neue"/>
                <a:cs typeface="Helvetica Neue"/>
              </a:defRPr>
            </a:lvl3pPr>
            <a:lvl4pPr>
              <a:defRPr sz="2625" b="1">
                <a:solidFill>
                  <a:srgbClr val="216B49"/>
                </a:solidFill>
                <a:latin typeface="Helvetica Neue"/>
                <a:ea typeface="Helvetica Neue"/>
                <a:cs typeface="Helvetica Neue"/>
              </a:defRPr>
            </a:lvl4pPr>
            <a:lvl5pPr>
              <a:defRPr sz="2625" b="1">
                <a:solidFill>
                  <a:srgbClr val="216B49"/>
                </a:solidFill>
                <a:latin typeface="Helvetica Neue"/>
                <a:ea typeface="Helvetica Neue"/>
                <a:cs typeface="Helvetica Neue"/>
              </a:defRPr>
            </a:lvl5pPr>
            <a:lvl6pPr>
              <a:defRPr sz="2625" b="1">
                <a:solidFill>
                  <a:srgbClr val="216B49"/>
                </a:solidFill>
                <a:latin typeface="Helvetica Neue"/>
                <a:ea typeface="Helvetica Neue"/>
                <a:cs typeface="Helvetica Neue"/>
              </a:defRPr>
            </a:lvl6pPr>
            <a:lvl7pPr>
              <a:defRPr sz="2625" b="1">
                <a:solidFill>
                  <a:srgbClr val="216B49"/>
                </a:solidFill>
                <a:latin typeface="Helvetica Neue"/>
                <a:ea typeface="Helvetica Neue"/>
                <a:cs typeface="Helvetica Neue"/>
              </a:defRPr>
            </a:lvl7pPr>
            <a:lvl8pPr>
              <a:defRPr sz="2625" b="1">
                <a:solidFill>
                  <a:srgbClr val="216B49"/>
                </a:solidFill>
                <a:latin typeface="Helvetica Neue"/>
                <a:ea typeface="Helvetica Neue"/>
                <a:cs typeface="Helvetica Neue"/>
              </a:defRPr>
            </a:lvl8pPr>
            <a:lvl9pPr>
              <a:defRPr sz="2625" b="1">
                <a:solidFill>
                  <a:srgbClr val="216B49"/>
                </a:solidFill>
                <a:latin typeface="Helvetica Neue"/>
                <a:ea typeface="Helvetica Neue"/>
                <a:cs typeface="Helvetica Neue"/>
              </a:defRPr>
            </a:lvl9pPr>
          </a:lstStyle>
          <a:p xmlns:a="http://schemas.openxmlformats.org/drawingml/2006/main">
            <a:pPr>
              <a:defRPr sz="2625" b="1">
                <a:solidFill>
                  <a:srgbClr val="216B49"/>
                </a:solidFill>
                <a:latin typeface="Helvetica Neue"/>
                <a:ea typeface="Helvetica Neue"/>
                <a:cs typeface="Helvetica Neue"/>
              </a:defRPr>
            </a:pPr>
            <a:r>
              <a:rPr sz="2625" b="1">
                <a:solidFill>
                  <a:srgbClr val="216B49"/>
                </a:solidFill>
                <a:latin typeface="Helvetica Neue"/>
                <a:ea typeface="Helvetica Neue"/>
                <a:cs typeface="Helvetica Neue"/>
              </a:rPr>
              <a:t>02</a:t>
            </a:r>
          </a:p>
        </p:txBody>
      </p:sp>
      <p:sp>
        <p:nvSpPr>
          <p:cNvPr id="6" name="text-56">
            <a:extLst xmlns:a="http://schemas.openxmlformats.org/drawingml/2006/main">
              <a:ext uri="{FF2B5EF4-FFF2-40B4-BE49-F238E27FC236}">
                <a16:creationId xmlns:a16="http://schemas.microsoft.com/office/drawing/2014/main" id="{F346A603-73C5-408E-880B-EA44703FD64D}"/>
              </a:ext>
            </a:extLst>
          </p:cNvPr>
          <p:cNvSpPr>
            <a:spLocks xmlns:a="http://schemas.openxmlformats.org/drawingml/2006/main" noGrp="1"/>
          </p:cNvSpPr>
          <p:nvPr/>
        </p:nvSpPr>
        <p:spPr>
          <a:xfrm xmlns:a="http://schemas.openxmlformats.org/drawingml/2006/main">
            <a:off x="1676400" y="2714625"/>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41414"/>
                </a:solidFill>
                <a:latin typeface="Helvetica Neue"/>
                <a:ea typeface="Helvetica Neue"/>
                <a:cs typeface="Helvetica Neue"/>
              </a:defRPr>
            </a:defPPr>
            <a:lvl1pPr>
              <a:defRPr sz="2400" b="1">
                <a:solidFill>
                  <a:srgbClr val="141414"/>
                </a:solidFill>
                <a:latin typeface="Helvetica Neue"/>
                <a:ea typeface="Helvetica Neue"/>
                <a:cs typeface="Helvetica Neue"/>
              </a:defRPr>
            </a:lvl1pPr>
            <a:lvl2pPr>
              <a:defRPr sz="2400" b="1">
                <a:solidFill>
                  <a:srgbClr val="141414"/>
                </a:solidFill>
                <a:latin typeface="Helvetica Neue"/>
                <a:ea typeface="Helvetica Neue"/>
                <a:cs typeface="Helvetica Neue"/>
              </a:defRPr>
            </a:lvl2pPr>
            <a:lvl3pPr>
              <a:defRPr sz="2400" b="1">
                <a:solidFill>
                  <a:srgbClr val="141414"/>
                </a:solidFill>
                <a:latin typeface="Helvetica Neue"/>
                <a:ea typeface="Helvetica Neue"/>
                <a:cs typeface="Helvetica Neue"/>
              </a:defRPr>
            </a:lvl3pPr>
            <a:lvl4pPr>
              <a:defRPr sz="2400" b="1">
                <a:solidFill>
                  <a:srgbClr val="141414"/>
                </a:solidFill>
                <a:latin typeface="Helvetica Neue"/>
                <a:ea typeface="Helvetica Neue"/>
                <a:cs typeface="Helvetica Neue"/>
              </a:defRPr>
            </a:lvl4pPr>
            <a:lvl5pPr>
              <a:defRPr sz="2400" b="1">
                <a:solidFill>
                  <a:srgbClr val="141414"/>
                </a:solidFill>
                <a:latin typeface="Helvetica Neue"/>
                <a:ea typeface="Helvetica Neue"/>
                <a:cs typeface="Helvetica Neue"/>
              </a:defRPr>
            </a:lvl5pPr>
            <a:lvl6pPr>
              <a:defRPr sz="2400" b="1">
                <a:solidFill>
                  <a:srgbClr val="141414"/>
                </a:solidFill>
                <a:latin typeface="Helvetica Neue"/>
                <a:ea typeface="Helvetica Neue"/>
                <a:cs typeface="Helvetica Neue"/>
              </a:defRPr>
            </a:lvl6pPr>
            <a:lvl7pPr>
              <a:defRPr sz="2400" b="1">
                <a:solidFill>
                  <a:srgbClr val="141414"/>
                </a:solidFill>
                <a:latin typeface="Helvetica Neue"/>
                <a:ea typeface="Helvetica Neue"/>
                <a:cs typeface="Helvetica Neue"/>
              </a:defRPr>
            </a:lvl7pPr>
            <a:lvl8pPr>
              <a:defRPr sz="2400" b="1">
                <a:solidFill>
                  <a:srgbClr val="141414"/>
                </a:solidFill>
                <a:latin typeface="Helvetica Neue"/>
                <a:ea typeface="Helvetica Neue"/>
                <a:cs typeface="Helvetica Neue"/>
              </a:defRPr>
            </a:lvl8pPr>
            <a:lvl9pPr>
              <a:defRPr sz="2400" b="1">
                <a:solidFill>
                  <a:srgbClr val="141414"/>
                </a:solidFill>
                <a:latin typeface="Helvetica Neue"/>
                <a:ea typeface="Helvetica Neue"/>
                <a:cs typeface="Helvetica Neue"/>
              </a:defRPr>
            </a:lvl9pPr>
          </a:lstStyle>
          <a:p xmlns:a="http://schemas.openxmlformats.org/drawingml/2006/main">
            <a:pPr>
              <a:defRPr sz="2400" b="1">
                <a:solidFill>
                  <a:srgbClr val="141414"/>
                </a:solidFill>
                <a:latin typeface="Helvetica Neue"/>
                <a:ea typeface="Helvetica Neue"/>
                <a:cs typeface="Helvetica Neue"/>
              </a:defRPr>
            </a:pPr>
            <a:r>
              <a:rPr sz="2400" b="1">
                <a:solidFill>
                  <a:srgbClr val="141414"/>
                </a:solidFill>
                <a:latin typeface="Helvetica Neue"/>
                <a:ea typeface="Helvetica Neue"/>
                <a:cs typeface="Helvetica Neue"/>
              </a:rPr>
              <a:t>Workout proposal</a:t>
            </a:r>
          </a:p>
        </p:txBody>
      </p:sp>
      <p:sp>
        <p:nvSpPr>
          <p:cNvPr id="7" name="text-57">
            <a:extLst xmlns:a="http://schemas.openxmlformats.org/drawingml/2006/main">
              <a:ext uri="{FF2B5EF4-FFF2-40B4-BE49-F238E27FC236}">
                <a16:creationId xmlns:a16="http://schemas.microsoft.com/office/drawing/2014/main" id="{371E3DB3-08D6-45F8-9581-7E9AFE479213}"/>
              </a:ext>
            </a:extLst>
          </p:cNvPr>
          <p:cNvSpPr>
            <a:spLocks xmlns:a="http://schemas.openxmlformats.org/drawingml/2006/main" noGrp="1"/>
          </p:cNvSpPr>
          <p:nvPr/>
        </p:nvSpPr>
        <p:spPr>
          <a:xfrm xmlns:a="http://schemas.openxmlformats.org/drawingml/2006/main">
            <a:off x="762000" y="3581400"/>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16B49"/>
                </a:solidFill>
                <a:latin typeface="Helvetica Neue"/>
                <a:ea typeface="Helvetica Neue"/>
                <a:cs typeface="Helvetica Neue"/>
              </a:defRPr>
            </a:defPPr>
            <a:lvl1pPr>
              <a:defRPr sz="2625" b="1">
                <a:solidFill>
                  <a:srgbClr val="216B49"/>
                </a:solidFill>
                <a:latin typeface="Helvetica Neue"/>
                <a:ea typeface="Helvetica Neue"/>
                <a:cs typeface="Helvetica Neue"/>
              </a:defRPr>
            </a:lvl1pPr>
            <a:lvl2pPr>
              <a:defRPr sz="2625" b="1">
                <a:solidFill>
                  <a:srgbClr val="216B49"/>
                </a:solidFill>
                <a:latin typeface="Helvetica Neue"/>
                <a:ea typeface="Helvetica Neue"/>
                <a:cs typeface="Helvetica Neue"/>
              </a:defRPr>
            </a:lvl2pPr>
            <a:lvl3pPr>
              <a:defRPr sz="2625" b="1">
                <a:solidFill>
                  <a:srgbClr val="216B49"/>
                </a:solidFill>
                <a:latin typeface="Helvetica Neue"/>
                <a:ea typeface="Helvetica Neue"/>
                <a:cs typeface="Helvetica Neue"/>
              </a:defRPr>
            </a:lvl3pPr>
            <a:lvl4pPr>
              <a:defRPr sz="2625" b="1">
                <a:solidFill>
                  <a:srgbClr val="216B49"/>
                </a:solidFill>
                <a:latin typeface="Helvetica Neue"/>
                <a:ea typeface="Helvetica Neue"/>
                <a:cs typeface="Helvetica Neue"/>
              </a:defRPr>
            </a:lvl4pPr>
            <a:lvl5pPr>
              <a:defRPr sz="2625" b="1">
                <a:solidFill>
                  <a:srgbClr val="216B49"/>
                </a:solidFill>
                <a:latin typeface="Helvetica Neue"/>
                <a:ea typeface="Helvetica Neue"/>
                <a:cs typeface="Helvetica Neue"/>
              </a:defRPr>
            </a:lvl5pPr>
            <a:lvl6pPr>
              <a:defRPr sz="2625" b="1">
                <a:solidFill>
                  <a:srgbClr val="216B49"/>
                </a:solidFill>
                <a:latin typeface="Helvetica Neue"/>
                <a:ea typeface="Helvetica Neue"/>
                <a:cs typeface="Helvetica Neue"/>
              </a:defRPr>
            </a:lvl6pPr>
            <a:lvl7pPr>
              <a:defRPr sz="2625" b="1">
                <a:solidFill>
                  <a:srgbClr val="216B49"/>
                </a:solidFill>
                <a:latin typeface="Helvetica Neue"/>
                <a:ea typeface="Helvetica Neue"/>
                <a:cs typeface="Helvetica Neue"/>
              </a:defRPr>
            </a:lvl7pPr>
            <a:lvl8pPr>
              <a:defRPr sz="2625" b="1">
                <a:solidFill>
                  <a:srgbClr val="216B49"/>
                </a:solidFill>
                <a:latin typeface="Helvetica Neue"/>
                <a:ea typeface="Helvetica Neue"/>
                <a:cs typeface="Helvetica Neue"/>
              </a:defRPr>
            </a:lvl8pPr>
            <a:lvl9pPr>
              <a:defRPr sz="2625" b="1">
                <a:solidFill>
                  <a:srgbClr val="216B49"/>
                </a:solidFill>
                <a:latin typeface="Helvetica Neue"/>
                <a:ea typeface="Helvetica Neue"/>
                <a:cs typeface="Helvetica Neue"/>
              </a:defRPr>
            </a:lvl9pPr>
          </a:lstStyle>
          <a:p xmlns:a="http://schemas.openxmlformats.org/drawingml/2006/main">
            <a:pPr>
              <a:defRPr sz="2625" b="1">
                <a:solidFill>
                  <a:srgbClr val="216B49"/>
                </a:solidFill>
                <a:latin typeface="Helvetica Neue"/>
                <a:ea typeface="Helvetica Neue"/>
                <a:cs typeface="Helvetica Neue"/>
              </a:defRPr>
            </a:pPr>
            <a:r>
              <a:rPr sz="2625" b="1">
                <a:solidFill>
                  <a:srgbClr val="216B49"/>
                </a:solidFill>
                <a:latin typeface="Helvetica Neue"/>
                <a:ea typeface="Helvetica Neue"/>
                <a:cs typeface="Helvetica Neue"/>
              </a:rPr>
              <a:t>03</a:t>
            </a:r>
          </a:p>
        </p:txBody>
      </p:sp>
      <p:sp>
        <p:nvSpPr>
          <p:cNvPr id="8" name="text-58">
            <a:extLst xmlns:a="http://schemas.openxmlformats.org/drawingml/2006/main">
              <a:ext uri="{FF2B5EF4-FFF2-40B4-BE49-F238E27FC236}">
                <a16:creationId xmlns:a16="http://schemas.microsoft.com/office/drawing/2014/main" id="{A468B022-C80E-451A-BE78-BEE6E9FD2C26}"/>
              </a:ext>
            </a:extLst>
          </p:cNvPr>
          <p:cNvSpPr>
            <a:spLocks xmlns:a="http://schemas.openxmlformats.org/drawingml/2006/main" noGrp="1"/>
          </p:cNvSpPr>
          <p:nvPr/>
        </p:nvSpPr>
        <p:spPr>
          <a:xfrm xmlns:a="http://schemas.openxmlformats.org/drawingml/2006/main">
            <a:off x="1676400" y="35814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41414"/>
                </a:solidFill>
                <a:latin typeface="Helvetica Neue"/>
                <a:ea typeface="Helvetica Neue"/>
                <a:cs typeface="Helvetica Neue"/>
              </a:defRPr>
            </a:defPPr>
            <a:lvl1pPr>
              <a:defRPr sz="2400" b="1">
                <a:solidFill>
                  <a:srgbClr val="141414"/>
                </a:solidFill>
                <a:latin typeface="Helvetica Neue"/>
                <a:ea typeface="Helvetica Neue"/>
                <a:cs typeface="Helvetica Neue"/>
              </a:defRPr>
            </a:lvl1pPr>
            <a:lvl2pPr>
              <a:defRPr sz="2400" b="1">
                <a:solidFill>
                  <a:srgbClr val="141414"/>
                </a:solidFill>
                <a:latin typeface="Helvetica Neue"/>
                <a:ea typeface="Helvetica Neue"/>
                <a:cs typeface="Helvetica Neue"/>
              </a:defRPr>
            </a:lvl2pPr>
            <a:lvl3pPr>
              <a:defRPr sz="2400" b="1">
                <a:solidFill>
                  <a:srgbClr val="141414"/>
                </a:solidFill>
                <a:latin typeface="Helvetica Neue"/>
                <a:ea typeface="Helvetica Neue"/>
                <a:cs typeface="Helvetica Neue"/>
              </a:defRPr>
            </a:lvl3pPr>
            <a:lvl4pPr>
              <a:defRPr sz="2400" b="1">
                <a:solidFill>
                  <a:srgbClr val="141414"/>
                </a:solidFill>
                <a:latin typeface="Helvetica Neue"/>
                <a:ea typeface="Helvetica Neue"/>
                <a:cs typeface="Helvetica Neue"/>
              </a:defRPr>
            </a:lvl4pPr>
            <a:lvl5pPr>
              <a:defRPr sz="2400" b="1">
                <a:solidFill>
                  <a:srgbClr val="141414"/>
                </a:solidFill>
                <a:latin typeface="Helvetica Neue"/>
                <a:ea typeface="Helvetica Neue"/>
                <a:cs typeface="Helvetica Neue"/>
              </a:defRPr>
            </a:lvl5pPr>
            <a:lvl6pPr>
              <a:defRPr sz="2400" b="1">
                <a:solidFill>
                  <a:srgbClr val="141414"/>
                </a:solidFill>
                <a:latin typeface="Helvetica Neue"/>
                <a:ea typeface="Helvetica Neue"/>
                <a:cs typeface="Helvetica Neue"/>
              </a:defRPr>
            </a:lvl6pPr>
            <a:lvl7pPr>
              <a:defRPr sz="2400" b="1">
                <a:solidFill>
                  <a:srgbClr val="141414"/>
                </a:solidFill>
                <a:latin typeface="Helvetica Neue"/>
                <a:ea typeface="Helvetica Neue"/>
                <a:cs typeface="Helvetica Neue"/>
              </a:defRPr>
            </a:lvl7pPr>
            <a:lvl8pPr>
              <a:defRPr sz="2400" b="1">
                <a:solidFill>
                  <a:srgbClr val="141414"/>
                </a:solidFill>
                <a:latin typeface="Helvetica Neue"/>
                <a:ea typeface="Helvetica Neue"/>
                <a:cs typeface="Helvetica Neue"/>
              </a:defRPr>
            </a:lvl8pPr>
            <a:lvl9pPr>
              <a:defRPr sz="2400" b="1">
                <a:solidFill>
                  <a:srgbClr val="141414"/>
                </a:solidFill>
                <a:latin typeface="Helvetica Neue"/>
                <a:ea typeface="Helvetica Neue"/>
                <a:cs typeface="Helvetica Neue"/>
              </a:defRPr>
            </a:lvl9pPr>
          </a:lstStyle>
          <a:p xmlns:a="http://schemas.openxmlformats.org/drawingml/2006/main">
            <a:pPr>
              <a:defRPr sz="2400" b="1">
                <a:solidFill>
                  <a:srgbClr val="141414"/>
                </a:solidFill>
                <a:latin typeface="Helvetica Neue"/>
                <a:ea typeface="Helvetica Neue"/>
                <a:cs typeface="Helvetica Neue"/>
              </a:defRPr>
            </a:pPr>
            <a:r>
              <a:rPr sz="2400" b="1">
                <a:solidFill>
                  <a:srgbClr val="141414"/>
                </a:solidFill>
                <a:latin typeface="Helvetica Neue"/>
                <a:ea typeface="Helvetica Neue"/>
                <a:cs typeface="Helvetica Neue"/>
              </a:rPr>
              <a:t>Session summary</a:t>
            </a:r>
          </a:p>
        </p:txBody>
      </p:sp>
      <p:sp>
        <p:nvSpPr>
          <p:cNvPr id="9" name="text-59">
            <a:extLst xmlns:a="http://schemas.openxmlformats.org/drawingml/2006/main">
              <a:ext uri="{FF2B5EF4-FFF2-40B4-BE49-F238E27FC236}">
                <a16:creationId xmlns:a16="http://schemas.microsoft.com/office/drawing/2014/main" id="{03583D03-B5F6-4594-9E59-CA5285AD9308}"/>
              </a:ext>
            </a:extLst>
          </p:cNvPr>
          <p:cNvSpPr>
            <a:spLocks xmlns:a="http://schemas.openxmlformats.org/drawingml/2006/main" noGrp="1"/>
          </p:cNvSpPr>
          <p:nvPr/>
        </p:nvSpPr>
        <p:spPr>
          <a:xfrm xmlns:a="http://schemas.openxmlformats.org/drawingml/2006/main">
            <a:off x="762000" y="4448175"/>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16B49"/>
                </a:solidFill>
                <a:latin typeface="Helvetica Neue"/>
                <a:ea typeface="Helvetica Neue"/>
                <a:cs typeface="Helvetica Neue"/>
              </a:defRPr>
            </a:defPPr>
            <a:lvl1pPr>
              <a:defRPr sz="2625" b="1">
                <a:solidFill>
                  <a:srgbClr val="216B49"/>
                </a:solidFill>
                <a:latin typeface="Helvetica Neue"/>
                <a:ea typeface="Helvetica Neue"/>
                <a:cs typeface="Helvetica Neue"/>
              </a:defRPr>
            </a:lvl1pPr>
            <a:lvl2pPr>
              <a:defRPr sz="2625" b="1">
                <a:solidFill>
                  <a:srgbClr val="216B49"/>
                </a:solidFill>
                <a:latin typeface="Helvetica Neue"/>
                <a:ea typeface="Helvetica Neue"/>
                <a:cs typeface="Helvetica Neue"/>
              </a:defRPr>
            </a:lvl2pPr>
            <a:lvl3pPr>
              <a:defRPr sz="2625" b="1">
                <a:solidFill>
                  <a:srgbClr val="216B49"/>
                </a:solidFill>
                <a:latin typeface="Helvetica Neue"/>
                <a:ea typeface="Helvetica Neue"/>
                <a:cs typeface="Helvetica Neue"/>
              </a:defRPr>
            </a:lvl3pPr>
            <a:lvl4pPr>
              <a:defRPr sz="2625" b="1">
                <a:solidFill>
                  <a:srgbClr val="216B49"/>
                </a:solidFill>
                <a:latin typeface="Helvetica Neue"/>
                <a:ea typeface="Helvetica Neue"/>
                <a:cs typeface="Helvetica Neue"/>
              </a:defRPr>
            </a:lvl4pPr>
            <a:lvl5pPr>
              <a:defRPr sz="2625" b="1">
                <a:solidFill>
                  <a:srgbClr val="216B49"/>
                </a:solidFill>
                <a:latin typeface="Helvetica Neue"/>
                <a:ea typeface="Helvetica Neue"/>
                <a:cs typeface="Helvetica Neue"/>
              </a:defRPr>
            </a:lvl5pPr>
            <a:lvl6pPr>
              <a:defRPr sz="2625" b="1">
                <a:solidFill>
                  <a:srgbClr val="216B49"/>
                </a:solidFill>
                <a:latin typeface="Helvetica Neue"/>
                <a:ea typeface="Helvetica Neue"/>
                <a:cs typeface="Helvetica Neue"/>
              </a:defRPr>
            </a:lvl6pPr>
            <a:lvl7pPr>
              <a:defRPr sz="2625" b="1">
                <a:solidFill>
                  <a:srgbClr val="216B49"/>
                </a:solidFill>
                <a:latin typeface="Helvetica Neue"/>
                <a:ea typeface="Helvetica Neue"/>
                <a:cs typeface="Helvetica Neue"/>
              </a:defRPr>
            </a:lvl7pPr>
            <a:lvl8pPr>
              <a:defRPr sz="2625" b="1">
                <a:solidFill>
                  <a:srgbClr val="216B49"/>
                </a:solidFill>
                <a:latin typeface="Helvetica Neue"/>
                <a:ea typeface="Helvetica Neue"/>
                <a:cs typeface="Helvetica Neue"/>
              </a:defRPr>
            </a:lvl8pPr>
            <a:lvl9pPr>
              <a:defRPr sz="2625" b="1">
                <a:solidFill>
                  <a:srgbClr val="216B49"/>
                </a:solidFill>
                <a:latin typeface="Helvetica Neue"/>
                <a:ea typeface="Helvetica Neue"/>
                <a:cs typeface="Helvetica Neue"/>
              </a:defRPr>
            </a:lvl9pPr>
          </a:lstStyle>
          <a:p xmlns:a="http://schemas.openxmlformats.org/drawingml/2006/main">
            <a:pPr>
              <a:defRPr sz="2625" b="1">
                <a:solidFill>
                  <a:srgbClr val="216B49"/>
                </a:solidFill>
                <a:latin typeface="Helvetica Neue"/>
                <a:ea typeface="Helvetica Neue"/>
                <a:cs typeface="Helvetica Neue"/>
              </a:defRPr>
            </a:pPr>
            <a:r>
              <a:rPr sz="2625" b="1">
                <a:solidFill>
                  <a:srgbClr val="216B49"/>
                </a:solidFill>
                <a:latin typeface="Helvetica Neue"/>
                <a:ea typeface="Helvetica Neue"/>
                <a:cs typeface="Helvetica Neue"/>
              </a:rPr>
              <a:t>04</a:t>
            </a:r>
          </a:p>
        </p:txBody>
      </p:sp>
      <p:sp>
        <p:nvSpPr>
          <p:cNvPr id="10" name="text-60">
            <a:extLst xmlns:a="http://schemas.openxmlformats.org/drawingml/2006/main">
              <a:ext uri="{FF2B5EF4-FFF2-40B4-BE49-F238E27FC236}">
                <a16:creationId xmlns:a16="http://schemas.microsoft.com/office/drawing/2014/main" id="{1B4BC487-0AAB-4BA0-AB50-B9D6FADF7A4E}"/>
              </a:ext>
            </a:extLst>
          </p:cNvPr>
          <p:cNvSpPr>
            <a:spLocks xmlns:a="http://schemas.openxmlformats.org/drawingml/2006/main" noGrp="1"/>
          </p:cNvSpPr>
          <p:nvPr/>
        </p:nvSpPr>
        <p:spPr>
          <a:xfrm xmlns:a="http://schemas.openxmlformats.org/drawingml/2006/main">
            <a:off x="1676400" y="4448175"/>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41414"/>
                </a:solidFill>
                <a:latin typeface="Helvetica Neue"/>
                <a:ea typeface="Helvetica Neue"/>
                <a:cs typeface="Helvetica Neue"/>
              </a:defRPr>
            </a:defPPr>
            <a:lvl1pPr>
              <a:defRPr sz="2400" b="1">
                <a:solidFill>
                  <a:srgbClr val="141414"/>
                </a:solidFill>
                <a:latin typeface="Helvetica Neue"/>
                <a:ea typeface="Helvetica Neue"/>
                <a:cs typeface="Helvetica Neue"/>
              </a:defRPr>
            </a:lvl1pPr>
            <a:lvl2pPr>
              <a:defRPr sz="2400" b="1">
                <a:solidFill>
                  <a:srgbClr val="141414"/>
                </a:solidFill>
                <a:latin typeface="Helvetica Neue"/>
                <a:ea typeface="Helvetica Neue"/>
                <a:cs typeface="Helvetica Neue"/>
              </a:defRPr>
            </a:lvl2pPr>
            <a:lvl3pPr>
              <a:defRPr sz="2400" b="1">
                <a:solidFill>
                  <a:srgbClr val="141414"/>
                </a:solidFill>
                <a:latin typeface="Helvetica Neue"/>
                <a:ea typeface="Helvetica Neue"/>
                <a:cs typeface="Helvetica Neue"/>
              </a:defRPr>
            </a:lvl3pPr>
            <a:lvl4pPr>
              <a:defRPr sz="2400" b="1">
                <a:solidFill>
                  <a:srgbClr val="141414"/>
                </a:solidFill>
                <a:latin typeface="Helvetica Neue"/>
                <a:ea typeface="Helvetica Neue"/>
                <a:cs typeface="Helvetica Neue"/>
              </a:defRPr>
            </a:lvl4pPr>
            <a:lvl5pPr>
              <a:defRPr sz="2400" b="1">
                <a:solidFill>
                  <a:srgbClr val="141414"/>
                </a:solidFill>
                <a:latin typeface="Helvetica Neue"/>
                <a:ea typeface="Helvetica Neue"/>
                <a:cs typeface="Helvetica Neue"/>
              </a:defRPr>
            </a:lvl5pPr>
            <a:lvl6pPr>
              <a:defRPr sz="2400" b="1">
                <a:solidFill>
                  <a:srgbClr val="141414"/>
                </a:solidFill>
                <a:latin typeface="Helvetica Neue"/>
                <a:ea typeface="Helvetica Neue"/>
                <a:cs typeface="Helvetica Neue"/>
              </a:defRPr>
            </a:lvl6pPr>
            <a:lvl7pPr>
              <a:defRPr sz="2400" b="1">
                <a:solidFill>
                  <a:srgbClr val="141414"/>
                </a:solidFill>
                <a:latin typeface="Helvetica Neue"/>
                <a:ea typeface="Helvetica Neue"/>
                <a:cs typeface="Helvetica Neue"/>
              </a:defRPr>
            </a:lvl7pPr>
            <a:lvl8pPr>
              <a:defRPr sz="2400" b="1">
                <a:solidFill>
                  <a:srgbClr val="141414"/>
                </a:solidFill>
                <a:latin typeface="Helvetica Neue"/>
                <a:ea typeface="Helvetica Neue"/>
                <a:cs typeface="Helvetica Neue"/>
              </a:defRPr>
            </a:lvl8pPr>
            <a:lvl9pPr>
              <a:defRPr sz="2400" b="1">
                <a:solidFill>
                  <a:srgbClr val="141414"/>
                </a:solidFill>
                <a:latin typeface="Helvetica Neue"/>
                <a:ea typeface="Helvetica Neue"/>
                <a:cs typeface="Helvetica Neue"/>
              </a:defRPr>
            </a:lvl9pPr>
          </a:lstStyle>
          <a:p xmlns:a="http://schemas.openxmlformats.org/drawingml/2006/main">
            <a:pPr>
              <a:defRPr sz="2400" b="1">
                <a:solidFill>
                  <a:srgbClr val="141414"/>
                </a:solidFill>
                <a:latin typeface="Helvetica Neue"/>
                <a:ea typeface="Helvetica Neue"/>
                <a:cs typeface="Helvetica Neue"/>
              </a:defRPr>
            </a:pPr>
            <a:r>
              <a:rPr sz="2400" b="1">
                <a:solidFill>
                  <a:srgbClr val="141414"/>
                </a:solidFill>
                <a:latin typeface="Helvetica Neue"/>
                <a:ea typeface="Helvetica Neue"/>
                <a:cs typeface="Helvetica Neue"/>
              </a:rPr>
              <a:t>Weekly summary</a:t>
            </a:r>
          </a:p>
        </p:txBody>
      </p:sp>
      <p:sp>
        <p:nvSpPr>
          <p:cNvPr id="11" name="text-61">
            <a:extLst xmlns:a="http://schemas.openxmlformats.org/drawingml/2006/main">
              <a:ext uri="{FF2B5EF4-FFF2-40B4-BE49-F238E27FC236}">
                <a16:creationId xmlns:a16="http://schemas.microsoft.com/office/drawing/2014/main" id="{712291B4-D5A0-4A9C-8989-6395F24EDA55}"/>
              </a:ext>
            </a:extLst>
          </p:cNvPr>
          <p:cNvSpPr>
            <a:spLocks xmlns:a="http://schemas.openxmlformats.org/drawingml/2006/main" noGrp="1"/>
          </p:cNvSpPr>
          <p:nvPr/>
        </p:nvSpPr>
        <p:spPr>
          <a:xfrm xmlns:a="http://schemas.openxmlformats.org/drawingml/2006/main">
            <a:off x="6096000" y="1847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Explicit facts and preferences</a:t>
            </a:r>
          </a:p>
        </p:txBody>
      </p:sp>
      <p:sp>
        <p:nvSpPr>
          <p:cNvPr id="12" name="text-62">
            <a:extLst xmlns:a="http://schemas.openxmlformats.org/drawingml/2006/main">
              <a:ext uri="{FF2B5EF4-FFF2-40B4-BE49-F238E27FC236}">
                <a16:creationId xmlns:a16="http://schemas.microsoft.com/office/drawing/2014/main" id="{72136932-3C8A-4C70-8018-17F4CB5F61B9}"/>
              </a:ext>
            </a:extLst>
          </p:cNvPr>
          <p:cNvSpPr>
            <a:spLocks xmlns:a="http://schemas.openxmlformats.org/drawingml/2006/main" noGrp="1"/>
          </p:cNvSpPr>
          <p:nvPr/>
        </p:nvSpPr>
        <p:spPr>
          <a:xfrm xmlns:a="http://schemas.openxmlformats.org/drawingml/2006/main">
            <a:off x="6096000" y="2333625"/>
            <a:ext cx="5238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D6560"/>
                </a:solidFill>
                <a:latin typeface="Helvetica Neue"/>
                <a:ea typeface="Helvetica Neue"/>
                <a:cs typeface="Helvetica Neue"/>
              </a:defRPr>
            </a:defPPr>
            <a:lvl1pPr>
              <a:defRPr sz="2100" b="0">
                <a:solidFill>
                  <a:srgbClr val="5D6560"/>
                </a:solidFill>
                <a:latin typeface="Helvetica Neue"/>
                <a:ea typeface="Helvetica Neue"/>
                <a:cs typeface="Helvetica Neue"/>
              </a:defRPr>
            </a:lvl1pPr>
            <a:lvl2pPr>
              <a:defRPr sz="2100" b="0">
                <a:solidFill>
                  <a:srgbClr val="5D6560"/>
                </a:solidFill>
                <a:latin typeface="Helvetica Neue"/>
                <a:ea typeface="Helvetica Neue"/>
                <a:cs typeface="Helvetica Neue"/>
              </a:defRPr>
            </a:lvl2pPr>
            <a:lvl3pPr>
              <a:defRPr sz="2100" b="0">
                <a:solidFill>
                  <a:srgbClr val="5D6560"/>
                </a:solidFill>
                <a:latin typeface="Helvetica Neue"/>
                <a:ea typeface="Helvetica Neue"/>
                <a:cs typeface="Helvetica Neue"/>
              </a:defRPr>
            </a:lvl3pPr>
            <a:lvl4pPr>
              <a:defRPr sz="2100" b="0">
                <a:solidFill>
                  <a:srgbClr val="5D6560"/>
                </a:solidFill>
                <a:latin typeface="Helvetica Neue"/>
                <a:ea typeface="Helvetica Neue"/>
                <a:cs typeface="Helvetica Neue"/>
              </a:defRPr>
            </a:lvl4pPr>
            <a:lvl5pPr>
              <a:defRPr sz="2100" b="0">
                <a:solidFill>
                  <a:srgbClr val="5D6560"/>
                </a:solidFill>
                <a:latin typeface="Helvetica Neue"/>
                <a:ea typeface="Helvetica Neue"/>
                <a:cs typeface="Helvetica Neue"/>
              </a:defRPr>
            </a:lvl5pPr>
            <a:lvl6pPr>
              <a:defRPr sz="2100" b="0">
                <a:solidFill>
                  <a:srgbClr val="5D6560"/>
                </a:solidFill>
                <a:latin typeface="Helvetica Neue"/>
                <a:ea typeface="Helvetica Neue"/>
                <a:cs typeface="Helvetica Neue"/>
              </a:defRPr>
            </a:lvl6pPr>
            <a:lvl7pPr>
              <a:defRPr sz="2100" b="0">
                <a:solidFill>
                  <a:srgbClr val="5D6560"/>
                </a:solidFill>
                <a:latin typeface="Helvetica Neue"/>
                <a:ea typeface="Helvetica Neue"/>
                <a:cs typeface="Helvetica Neue"/>
              </a:defRPr>
            </a:lvl7pPr>
            <a:lvl8pPr>
              <a:defRPr sz="2100" b="0">
                <a:solidFill>
                  <a:srgbClr val="5D6560"/>
                </a:solidFill>
                <a:latin typeface="Helvetica Neue"/>
                <a:ea typeface="Helvetica Neue"/>
                <a:cs typeface="Helvetica Neue"/>
              </a:defRPr>
            </a:lvl8pPr>
            <a:lvl9pPr>
              <a:defRPr sz="2100" b="0">
                <a:solidFill>
                  <a:srgbClr val="5D6560"/>
                </a:solidFill>
                <a:latin typeface="Helvetica Neue"/>
                <a:ea typeface="Helvetica Neue"/>
                <a:cs typeface="Helvetica Neue"/>
              </a:defRPr>
            </a:lvl9pPr>
          </a:lstStyle>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Recorded sets and source labels</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Selected goals and weekly target</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Canonical catalogue capabilities</a:t>
            </a:r>
          </a:p>
        </p:txBody>
      </p:sp>
      <p:sp>
        <p:nvSpPr>
          <p:cNvPr id="13" name="text-63">
            <a:extLst xmlns:a="http://schemas.openxmlformats.org/drawingml/2006/main">
              <a:ext uri="{FF2B5EF4-FFF2-40B4-BE49-F238E27FC236}">
                <a16:creationId xmlns:a16="http://schemas.microsoft.com/office/drawing/2014/main" id="{1B5B8731-CD55-41B2-B9E3-3DC8C93D05EC}"/>
              </a:ext>
            </a:extLst>
          </p:cNvPr>
          <p:cNvSpPr>
            <a:spLocks xmlns:a="http://schemas.openxmlformats.org/drawingml/2006/main" noGrp="1"/>
          </p:cNvSpPr>
          <p:nvPr/>
        </p:nvSpPr>
        <p:spPr>
          <a:xfrm xmlns:a="http://schemas.openxmlformats.org/drawingml/2006/main">
            <a:off x="6096000" y="40576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Checked before use</a:t>
            </a:r>
          </a:p>
        </p:txBody>
      </p:sp>
      <p:sp>
        <p:nvSpPr>
          <p:cNvPr id="14" name="text-64">
            <a:extLst xmlns:a="http://schemas.openxmlformats.org/drawingml/2006/main">
              <a:ext uri="{FF2B5EF4-FFF2-40B4-BE49-F238E27FC236}">
                <a16:creationId xmlns:a16="http://schemas.microsoft.com/office/drawing/2014/main" id="{834B06EA-1C07-489D-9444-903069AEC00D}"/>
              </a:ext>
            </a:extLst>
          </p:cNvPr>
          <p:cNvSpPr>
            <a:spLocks xmlns:a="http://schemas.openxmlformats.org/drawingml/2006/main" noGrp="1"/>
          </p:cNvSpPr>
          <p:nvPr/>
        </p:nvSpPr>
        <p:spPr>
          <a:xfrm xmlns:a="http://schemas.openxmlformats.org/drawingml/2006/main">
            <a:off x="6096000" y="4533900"/>
            <a:ext cx="5238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D6560"/>
                </a:solidFill>
                <a:latin typeface="Helvetica Neue"/>
                <a:ea typeface="Helvetica Neue"/>
                <a:cs typeface="Helvetica Neue"/>
              </a:defRPr>
            </a:defPPr>
            <a:lvl1pPr>
              <a:defRPr sz="2100" b="0">
                <a:solidFill>
                  <a:srgbClr val="5D6560"/>
                </a:solidFill>
                <a:latin typeface="Helvetica Neue"/>
                <a:ea typeface="Helvetica Neue"/>
                <a:cs typeface="Helvetica Neue"/>
              </a:defRPr>
            </a:lvl1pPr>
            <a:lvl2pPr>
              <a:defRPr sz="2100" b="0">
                <a:solidFill>
                  <a:srgbClr val="5D6560"/>
                </a:solidFill>
                <a:latin typeface="Helvetica Neue"/>
                <a:ea typeface="Helvetica Neue"/>
                <a:cs typeface="Helvetica Neue"/>
              </a:defRPr>
            </a:lvl2pPr>
            <a:lvl3pPr>
              <a:defRPr sz="2100" b="0">
                <a:solidFill>
                  <a:srgbClr val="5D6560"/>
                </a:solidFill>
                <a:latin typeface="Helvetica Neue"/>
                <a:ea typeface="Helvetica Neue"/>
                <a:cs typeface="Helvetica Neue"/>
              </a:defRPr>
            </a:lvl3pPr>
            <a:lvl4pPr>
              <a:defRPr sz="2100" b="0">
                <a:solidFill>
                  <a:srgbClr val="5D6560"/>
                </a:solidFill>
                <a:latin typeface="Helvetica Neue"/>
                <a:ea typeface="Helvetica Neue"/>
                <a:cs typeface="Helvetica Neue"/>
              </a:defRPr>
            </a:lvl4pPr>
            <a:lvl5pPr>
              <a:defRPr sz="2100" b="0">
                <a:solidFill>
                  <a:srgbClr val="5D6560"/>
                </a:solidFill>
                <a:latin typeface="Helvetica Neue"/>
                <a:ea typeface="Helvetica Neue"/>
                <a:cs typeface="Helvetica Neue"/>
              </a:defRPr>
            </a:lvl5pPr>
            <a:lvl6pPr>
              <a:defRPr sz="2100" b="0">
                <a:solidFill>
                  <a:srgbClr val="5D6560"/>
                </a:solidFill>
                <a:latin typeface="Helvetica Neue"/>
                <a:ea typeface="Helvetica Neue"/>
                <a:cs typeface="Helvetica Neue"/>
              </a:defRPr>
            </a:lvl6pPr>
            <a:lvl7pPr>
              <a:defRPr sz="2100" b="0">
                <a:solidFill>
                  <a:srgbClr val="5D6560"/>
                </a:solidFill>
                <a:latin typeface="Helvetica Neue"/>
                <a:ea typeface="Helvetica Neue"/>
                <a:cs typeface="Helvetica Neue"/>
              </a:defRPr>
            </a:lvl7pPr>
            <a:lvl8pPr>
              <a:defRPr sz="2100" b="0">
                <a:solidFill>
                  <a:srgbClr val="5D6560"/>
                </a:solidFill>
                <a:latin typeface="Helvetica Neue"/>
                <a:ea typeface="Helvetica Neue"/>
                <a:cs typeface="Helvetica Neue"/>
              </a:defRPr>
            </a:lvl8pPr>
            <a:lvl9pPr>
              <a:defRPr sz="2100" b="0">
                <a:solidFill>
                  <a:srgbClr val="5D6560"/>
                </a:solidFill>
                <a:latin typeface="Helvetica Neue"/>
                <a:ea typeface="Helvetica Neue"/>
                <a:cs typeface="Helvetica Neue"/>
              </a:defRPr>
            </a:lvl9pPr>
          </a:lstStyle>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Fact IDs and typed quantities</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Current generation only</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User approval before a plan starts</a:t>
            </a:r>
          </a:p>
        </p:txBody>
      </p:sp>
      <p:sp>
        <p:nvSpPr>
          <p:cNvPr id="15" name="text-65">
            <a:extLst xmlns:a="http://schemas.openxmlformats.org/drawingml/2006/main">
              <a:ext uri="{FF2B5EF4-FFF2-40B4-BE49-F238E27FC236}">
                <a16:creationId xmlns:a16="http://schemas.microsoft.com/office/drawing/2014/main" id="{74EF9F9B-E919-40D4-8F6A-7154BA92E0D3}"/>
              </a:ext>
            </a:extLst>
          </p:cNvPr>
          <p:cNvSpPr>
            <a:spLocks xmlns:a="http://schemas.openxmlformats.org/drawingml/2006/main" noGrp="1"/>
          </p:cNvSpPr>
          <p:nvPr/>
        </p:nvSpPr>
        <p:spPr>
          <a:xfrm xmlns:a="http://schemas.openxmlformats.org/drawingml/2006/main">
            <a:off x="762000" y="6019800"/>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560"/>
                </a:solidFill>
                <a:latin typeface="Helvetica Neue"/>
                <a:ea typeface="Helvetica Neue"/>
                <a:cs typeface="Helvetica Neue"/>
              </a:defRPr>
            </a:defPPr>
            <a:lvl1pPr>
              <a:defRPr sz="1725" b="0">
                <a:solidFill>
                  <a:srgbClr val="5D6560"/>
                </a:solidFill>
                <a:latin typeface="Helvetica Neue"/>
                <a:ea typeface="Helvetica Neue"/>
                <a:cs typeface="Helvetica Neue"/>
              </a:defRPr>
            </a:lvl1pPr>
            <a:lvl2pPr>
              <a:defRPr sz="1725" b="0">
                <a:solidFill>
                  <a:srgbClr val="5D6560"/>
                </a:solidFill>
                <a:latin typeface="Helvetica Neue"/>
                <a:ea typeface="Helvetica Neue"/>
                <a:cs typeface="Helvetica Neue"/>
              </a:defRPr>
            </a:lvl2pPr>
            <a:lvl3pPr>
              <a:defRPr sz="1725" b="0">
                <a:solidFill>
                  <a:srgbClr val="5D6560"/>
                </a:solidFill>
                <a:latin typeface="Helvetica Neue"/>
                <a:ea typeface="Helvetica Neue"/>
                <a:cs typeface="Helvetica Neue"/>
              </a:defRPr>
            </a:lvl3pPr>
            <a:lvl4pPr>
              <a:defRPr sz="1725" b="0">
                <a:solidFill>
                  <a:srgbClr val="5D6560"/>
                </a:solidFill>
                <a:latin typeface="Helvetica Neue"/>
                <a:ea typeface="Helvetica Neue"/>
                <a:cs typeface="Helvetica Neue"/>
              </a:defRPr>
            </a:lvl4pPr>
            <a:lvl5pPr>
              <a:defRPr sz="1725" b="0">
                <a:solidFill>
                  <a:srgbClr val="5D6560"/>
                </a:solidFill>
                <a:latin typeface="Helvetica Neue"/>
                <a:ea typeface="Helvetica Neue"/>
                <a:cs typeface="Helvetica Neue"/>
              </a:defRPr>
            </a:lvl5pPr>
            <a:lvl6pPr>
              <a:defRPr sz="1725" b="0">
                <a:solidFill>
                  <a:srgbClr val="5D6560"/>
                </a:solidFill>
                <a:latin typeface="Helvetica Neue"/>
                <a:ea typeface="Helvetica Neue"/>
                <a:cs typeface="Helvetica Neue"/>
              </a:defRPr>
            </a:lvl6pPr>
            <a:lvl7pPr>
              <a:defRPr sz="1725" b="0">
                <a:solidFill>
                  <a:srgbClr val="5D6560"/>
                </a:solidFill>
                <a:latin typeface="Helvetica Neue"/>
                <a:ea typeface="Helvetica Neue"/>
                <a:cs typeface="Helvetica Neue"/>
              </a:defRPr>
            </a:lvl7pPr>
            <a:lvl8pPr>
              <a:defRPr sz="1725" b="0">
                <a:solidFill>
                  <a:srgbClr val="5D6560"/>
                </a:solidFill>
                <a:latin typeface="Helvetica Neue"/>
                <a:ea typeface="Helvetica Neue"/>
                <a:cs typeface="Helvetica Neue"/>
              </a:defRPr>
            </a:lvl8pPr>
            <a:lvl9pPr>
              <a:defRPr sz="1725" b="0">
                <a:solidFill>
                  <a:srgbClr val="5D6560"/>
                </a:solidFill>
                <a:latin typeface="Helvetica Neue"/>
                <a:ea typeface="Helvetica Neue"/>
                <a:cs typeface="Helvetica Neue"/>
              </a:defRPr>
            </a:lvl9pPr>
          </a:lstStyle>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All four types accepted in the signed simulator with synthetic inputs.</a:t>
            </a:r>
          </a:p>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Physical phone networking and real-user coaching remain unverified.</a:t>
            </a:r>
          </a:p>
        </p:txBody>
      </p:sp>
    </p:spTree>
    <p:extLst>
      <p:ext uri="{BB962C8B-B14F-4D97-AF65-F5344CB8AC3E}">
        <p14:creationId xmlns:p14="http://schemas.microsoft.com/office/powerpoint/2010/main" val="196014409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66">
            <a:extLst xmlns:a="http://schemas.openxmlformats.org/drawingml/2006/main">
              <a:ext uri="{FF2B5EF4-FFF2-40B4-BE49-F238E27FC236}">
                <a16:creationId xmlns:a16="http://schemas.microsoft.com/office/drawing/2014/main" id="{82D71774-FCC5-4844-A8BC-D71F44624966}"/>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Operational data and batch analysis</a:t>
            </a:r>
          </a:p>
        </p:txBody>
      </p:sp>
      <p:sp>
        <p:nvSpPr>
          <p:cNvPr id="2" name="text-67">
            <a:extLst xmlns:a="http://schemas.openxmlformats.org/drawingml/2006/main">
              <a:ext uri="{FF2B5EF4-FFF2-40B4-BE49-F238E27FC236}">
                <a16:creationId xmlns:a16="http://schemas.microsoft.com/office/drawing/2014/main" id="{AD8F60F0-3FC7-4824-93DF-E4CFA963C639}"/>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07</a:t>
            </a:r>
          </a:p>
        </p:txBody>
      </p:sp>
      <p:sp>
        <p:nvSpPr>
          <p:cNvPr id="3" name="text-68">
            <a:extLst xmlns:a="http://schemas.openxmlformats.org/drawingml/2006/main">
              <a:ext uri="{FF2B5EF4-FFF2-40B4-BE49-F238E27FC236}">
                <a16:creationId xmlns:a16="http://schemas.microsoft.com/office/drawing/2014/main" id="{2449533B-2B83-4077-8202-426C0D09C04B}"/>
              </a:ext>
            </a:extLst>
          </p:cNvPr>
          <p:cNvSpPr>
            <a:spLocks xmlns:a="http://schemas.openxmlformats.org/drawingml/2006/main" noGrp="1"/>
          </p:cNvSpPr>
          <p:nvPr/>
        </p:nvSpPr>
        <p:spPr>
          <a:xfrm xmlns:a="http://schemas.openxmlformats.org/drawingml/2006/main">
            <a:off x="762000" y="1828800"/>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1414"/>
                </a:solidFill>
                <a:latin typeface="Helvetica Neue"/>
                <a:ea typeface="Helvetica Neue"/>
                <a:cs typeface="Helvetica Neue"/>
              </a:defRPr>
            </a:defPPr>
            <a:lvl1pPr>
              <a:defRPr sz="3300" b="1">
                <a:solidFill>
                  <a:srgbClr val="141414"/>
                </a:solidFill>
                <a:latin typeface="Helvetica Neue"/>
                <a:ea typeface="Helvetica Neue"/>
                <a:cs typeface="Helvetica Neue"/>
              </a:defRPr>
            </a:lvl1pPr>
            <a:lvl2pPr>
              <a:defRPr sz="3300" b="1">
                <a:solidFill>
                  <a:srgbClr val="141414"/>
                </a:solidFill>
                <a:latin typeface="Helvetica Neue"/>
                <a:ea typeface="Helvetica Neue"/>
                <a:cs typeface="Helvetica Neue"/>
              </a:defRPr>
            </a:lvl2pPr>
            <a:lvl3pPr>
              <a:defRPr sz="3300" b="1">
                <a:solidFill>
                  <a:srgbClr val="141414"/>
                </a:solidFill>
                <a:latin typeface="Helvetica Neue"/>
                <a:ea typeface="Helvetica Neue"/>
                <a:cs typeface="Helvetica Neue"/>
              </a:defRPr>
            </a:lvl3pPr>
            <a:lvl4pPr>
              <a:defRPr sz="3300" b="1">
                <a:solidFill>
                  <a:srgbClr val="141414"/>
                </a:solidFill>
                <a:latin typeface="Helvetica Neue"/>
                <a:ea typeface="Helvetica Neue"/>
                <a:cs typeface="Helvetica Neue"/>
              </a:defRPr>
            </a:lvl4pPr>
            <a:lvl5pPr>
              <a:defRPr sz="3300" b="1">
                <a:solidFill>
                  <a:srgbClr val="141414"/>
                </a:solidFill>
                <a:latin typeface="Helvetica Neue"/>
                <a:ea typeface="Helvetica Neue"/>
                <a:cs typeface="Helvetica Neue"/>
              </a:defRPr>
            </a:lvl5pPr>
            <a:lvl6pPr>
              <a:defRPr sz="3300" b="1">
                <a:solidFill>
                  <a:srgbClr val="141414"/>
                </a:solidFill>
                <a:latin typeface="Helvetica Neue"/>
                <a:ea typeface="Helvetica Neue"/>
                <a:cs typeface="Helvetica Neue"/>
              </a:defRPr>
            </a:lvl6pPr>
            <a:lvl7pPr>
              <a:defRPr sz="3300" b="1">
                <a:solidFill>
                  <a:srgbClr val="141414"/>
                </a:solidFill>
                <a:latin typeface="Helvetica Neue"/>
                <a:ea typeface="Helvetica Neue"/>
                <a:cs typeface="Helvetica Neue"/>
              </a:defRPr>
            </a:lvl7pPr>
            <a:lvl8pPr>
              <a:defRPr sz="3300" b="1">
                <a:solidFill>
                  <a:srgbClr val="141414"/>
                </a:solidFill>
                <a:latin typeface="Helvetica Neue"/>
                <a:ea typeface="Helvetica Neue"/>
                <a:cs typeface="Helvetica Neue"/>
              </a:defRPr>
            </a:lvl8pPr>
            <a:lvl9pPr>
              <a:defRPr sz="3300" b="1">
                <a:solidFill>
                  <a:srgbClr val="141414"/>
                </a:solidFill>
                <a:latin typeface="Helvetica Neue"/>
                <a:ea typeface="Helvetica Neue"/>
                <a:cs typeface="Helvetica Neue"/>
              </a:defRPr>
            </a:lvl9pPr>
          </a:lstStyle>
          <a:p xmlns:a="http://schemas.openxmlformats.org/drawingml/2006/main">
            <a:pPr>
              <a:defRPr sz="3300" b="1">
                <a:solidFill>
                  <a:srgbClr val="141414"/>
                </a:solidFill>
                <a:latin typeface="Helvetica Neue"/>
                <a:ea typeface="Helvetica Neue"/>
                <a:cs typeface="Helvetica Neue"/>
              </a:defRPr>
            </a:pPr>
            <a:r>
              <a:rPr sz="3300" b="1">
                <a:solidFill>
                  <a:srgbClr val="141414"/>
                </a:solidFill>
                <a:latin typeface="Helvetica Neue"/>
                <a:ea typeface="Helvetica Neue"/>
                <a:cs typeface="Helvetica Neue"/>
              </a:rPr>
              <a:t>Tiger Data</a:t>
            </a:r>
          </a:p>
        </p:txBody>
      </p:sp>
      <p:sp>
        <p:nvSpPr>
          <p:cNvPr id="4" name="text-69">
            <a:extLst xmlns:a="http://schemas.openxmlformats.org/drawingml/2006/main">
              <a:ext uri="{FF2B5EF4-FFF2-40B4-BE49-F238E27FC236}">
                <a16:creationId xmlns:a16="http://schemas.microsoft.com/office/drawing/2014/main" id="{AE848AF7-E33E-433F-A80E-9569B7E4B0AC}"/>
              </a:ext>
            </a:extLst>
          </p:cNvPr>
          <p:cNvSpPr>
            <a:spLocks xmlns:a="http://schemas.openxmlformats.org/drawingml/2006/main" noGrp="1"/>
          </p:cNvSpPr>
          <p:nvPr/>
        </p:nvSpPr>
        <p:spPr>
          <a:xfrm xmlns:a="http://schemas.openxmlformats.org/drawingml/2006/main">
            <a:off x="762000" y="260985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Operational history</a:t>
            </a:r>
          </a:p>
        </p:txBody>
      </p:sp>
      <p:sp>
        <p:nvSpPr>
          <p:cNvPr id="5" name="text-70">
            <a:extLst xmlns:a="http://schemas.openxmlformats.org/drawingml/2006/main">
              <a:ext uri="{FF2B5EF4-FFF2-40B4-BE49-F238E27FC236}">
                <a16:creationId xmlns:a16="http://schemas.microsoft.com/office/drawing/2014/main" id="{0DD13DDA-E630-4E30-BD69-E391F2940668}"/>
              </a:ext>
            </a:extLst>
          </p:cNvPr>
          <p:cNvSpPr>
            <a:spLocks xmlns:a="http://schemas.openxmlformats.org/drawingml/2006/main" noGrp="1"/>
          </p:cNvSpPr>
          <p:nvPr/>
        </p:nvSpPr>
        <p:spPr>
          <a:xfrm xmlns:a="http://schemas.openxmlformats.org/drawingml/2006/main">
            <a:off x="762000" y="3143250"/>
            <a:ext cx="4857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D6560"/>
                </a:solidFill>
                <a:latin typeface="Helvetica Neue"/>
                <a:ea typeface="Helvetica Neue"/>
                <a:cs typeface="Helvetica Neue"/>
              </a:defRPr>
            </a:defPPr>
            <a:lvl1pPr>
              <a:defRPr sz="2250" b="0">
                <a:solidFill>
                  <a:srgbClr val="5D6560"/>
                </a:solidFill>
                <a:latin typeface="Helvetica Neue"/>
                <a:ea typeface="Helvetica Neue"/>
                <a:cs typeface="Helvetica Neue"/>
              </a:defRPr>
            </a:lvl1pPr>
            <a:lvl2pPr>
              <a:defRPr sz="2250" b="0">
                <a:solidFill>
                  <a:srgbClr val="5D6560"/>
                </a:solidFill>
                <a:latin typeface="Helvetica Neue"/>
                <a:ea typeface="Helvetica Neue"/>
                <a:cs typeface="Helvetica Neue"/>
              </a:defRPr>
            </a:lvl2pPr>
            <a:lvl3pPr>
              <a:defRPr sz="2250" b="0">
                <a:solidFill>
                  <a:srgbClr val="5D6560"/>
                </a:solidFill>
                <a:latin typeface="Helvetica Neue"/>
                <a:ea typeface="Helvetica Neue"/>
                <a:cs typeface="Helvetica Neue"/>
              </a:defRPr>
            </a:lvl3pPr>
            <a:lvl4pPr>
              <a:defRPr sz="2250" b="0">
                <a:solidFill>
                  <a:srgbClr val="5D6560"/>
                </a:solidFill>
                <a:latin typeface="Helvetica Neue"/>
                <a:ea typeface="Helvetica Neue"/>
                <a:cs typeface="Helvetica Neue"/>
              </a:defRPr>
            </a:lvl4pPr>
            <a:lvl5pPr>
              <a:defRPr sz="2250" b="0">
                <a:solidFill>
                  <a:srgbClr val="5D6560"/>
                </a:solidFill>
                <a:latin typeface="Helvetica Neue"/>
                <a:ea typeface="Helvetica Neue"/>
                <a:cs typeface="Helvetica Neue"/>
              </a:defRPr>
            </a:lvl5pPr>
            <a:lvl6pPr>
              <a:defRPr sz="2250" b="0">
                <a:solidFill>
                  <a:srgbClr val="5D6560"/>
                </a:solidFill>
                <a:latin typeface="Helvetica Neue"/>
                <a:ea typeface="Helvetica Neue"/>
                <a:cs typeface="Helvetica Neue"/>
              </a:defRPr>
            </a:lvl6pPr>
            <a:lvl7pPr>
              <a:defRPr sz="2250" b="0">
                <a:solidFill>
                  <a:srgbClr val="5D6560"/>
                </a:solidFill>
                <a:latin typeface="Helvetica Neue"/>
                <a:ea typeface="Helvetica Neue"/>
                <a:cs typeface="Helvetica Neue"/>
              </a:defRPr>
            </a:lvl7pPr>
            <a:lvl8pPr>
              <a:defRPr sz="2250" b="0">
                <a:solidFill>
                  <a:srgbClr val="5D6560"/>
                </a:solidFill>
                <a:latin typeface="Helvetica Neue"/>
                <a:ea typeface="Helvetica Neue"/>
                <a:cs typeface="Helvetica Neue"/>
              </a:defRPr>
            </a:lvl8pPr>
            <a:lvl9pPr>
              <a:defRPr sz="2250" b="0">
                <a:solidFill>
                  <a:srgbClr val="5D6560"/>
                </a:solidFill>
                <a:latin typeface="Helvetica Neue"/>
                <a:ea typeface="Helvetica Neue"/>
                <a:cs typeface="Helvetica Neue"/>
              </a:defRPr>
            </a:lvl9pPr>
          </a:lstStyle>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Implemented snapshot adapter</a:t>
            </a:r>
          </a:p>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Timestamped Watch scalars</a:t>
            </a:r>
          </a:p>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Explicit optional upload</a:t>
            </a:r>
          </a:p>
        </p:txBody>
      </p:sp>
      <p:sp>
        <p:nvSpPr>
          <p:cNvPr id="6" name="text-71">
            <a:extLst xmlns:a="http://schemas.openxmlformats.org/drawingml/2006/main">
              <a:ext uri="{FF2B5EF4-FFF2-40B4-BE49-F238E27FC236}">
                <a16:creationId xmlns:a16="http://schemas.microsoft.com/office/drawing/2014/main" id="{3F7B54CC-5DA0-4100-8CE3-7F367D38BC1F}"/>
              </a:ext>
            </a:extLst>
          </p:cNvPr>
          <p:cNvSpPr>
            <a:spLocks xmlns:a="http://schemas.openxmlformats.org/drawingml/2006/main" noGrp="1"/>
          </p:cNvSpPr>
          <p:nvPr/>
        </p:nvSpPr>
        <p:spPr>
          <a:xfrm xmlns:a="http://schemas.openxmlformats.org/drawingml/2006/main">
            <a:off x="762000" y="5114925"/>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Console schema accepted; zero rows.</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Node TLS and ingestion pending.</a:t>
            </a:r>
          </a:p>
        </p:txBody>
      </p:sp>
      <p:sp>
        <p:nvSpPr>
          <p:cNvPr id="7" name="text-72">
            <a:extLst xmlns:a="http://schemas.openxmlformats.org/drawingml/2006/main">
              <a:ext uri="{FF2B5EF4-FFF2-40B4-BE49-F238E27FC236}">
                <a16:creationId xmlns:a16="http://schemas.microsoft.com/office/drawing/2014/main" id="{793155FC-7CA0-421F-9A44-D58E72F324D9}"/>
              </a:ext>
            </a:extLst>
          </p:cNvPr>
          <p:cNvSpPr>
            <a:spLocks xmlns:a="http://schemas.openxmlformats.org/drawingml/2006/main" noGrp="1"/>
          </p:cNvSpPr>
          <p:nvPr/>
        </p:nvSpPr>
        <p:spPr>
          <a:xfrm xmlns:a="http://schemas.openxmlformats.org/drawingml/2006/main">
            <a:off x="6762750" y="1828800"/>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1414"/>
                </a:solidFill>
                <a:latin typeface="Helvetica Neue"/>
                <a:ea typeface="Helvetica Neue"/>
                <a:cs typeface="Helvetica Neue"/>
              </a:defRPr>
            </a:defPPr>
            <a:lvl1pPr>
              <a:defRPr sz="3300" b="1">
                <a:solidFill>
                  <a:srgbClr val="141414"/>
                </a:solidFill>
                <a:latin typeface="Helvetica Neue"/>
                <a:ea typeface="Helvetica Neue"/>
                <a:cs typeface="Helvetica Neue"/>
              </a:defRPr>
            </a:lvl1pPr>
            <a:lvl2pPr>
              <a:defRPr sz="3300" b="1">
                <a:solidFill>
                  <a:srgbClr val="141414"/>
                </a:solidFill>
                <a:latin typeface="Helvetica Neue"/>
                <a:ea typeface="Helvetica Neue"/>
                <a:cs typeface="Helvetica Neue"/>
              </a:defRPr>
            </a:lvl2pPr>
            <a:lvl3pPr>
              <a:defRPr sz="3300" b="1">
                <a:solidFill>
                  <a:srgbClr val="141414"/>
                </a:solidFill>
                <a:latin typeface="Helvetica Neue"/>
                <a:ea typeface="Helvetica Neue"/>
                <a:cs typeface="Helvetica Neue"/>
              </a:defRPr>
            </a:lvl3pPr>
            <a:lvl4pPr>
              <a:defRPr sz="3300" b="1">
                <a:solidFill>
                  <a:srgbClr val="141414"/>
                </a:solidFill>
                <a:latin typeface="Helvetica Neue"/>
                <a:ea typeface="Helvetica Neue"/>
                <a:cs typeface="Helvetica Neue"/>
              </a:defRPr>
            </a:lvl4pPr>
            <a:lvl5pPr>
              <a:defRPr sz="3300" b="1">
                <a:solidFill>
                  <a:srgbClr val="141414"/>
                </a:solidFill>
                <a:latin typeface="Helvetica Neue"/>
                <a:ea typeface="Helvetica Neue"/>
                <a:cs typeface="Helvetica Neue"/>
              </a:defRPr>
            </a:lvl5pPr>
            <a:lvl6pPr>
              <a:defRPr sz="3300" b="1">
                <a:solidFill>
                  <a:srgbClr val="141414"/>
                </a:solidFill>
                <a:latin typeface="Helvetica Neue"/>
                <a:ea typeface="Helvetica Neue"/>
                <a:cs typeface="Helvetica Neue"/>
              </a:defRPr>
            </a:lvl6pPr>
            <a:lvl7pPr>
              <a:defRPr sz="3300" b="1">
                <a:solidFill>
                  <a:srgbClr val="141414"/>
                </a:solidFill>
                <a:latin typeface="Helvetica Neue"/>
                <a:ea typeface="Helvetica Neue"/>
                <a:cs typeface="Helvetica Neue"/>
              </a:defRPr>
            </a:lvl7pPr>
            <a:lvl8pPr>
              <a:defRPr sz="3300" b="1">
                <a:solidFill>
                  <a:srgbClr val="141414"/>
                </a:solidFill>
                <a:latin typeface="Helvetica Neue"/>
                <a:ea typeface="Helvetica Neue"/>
                <a:cs typeface="Helvetica Neue"/>
              </a:defRPr>
            </a:lvl8pPr>
            <a:lvl9pPr>
              <a:defRPr sz="3300" b="1">
                <a:solidFill>
                  <a:srgbClr val="141414"/>
                </a:solidFill>
                <a:latin typeface="Helvetica Neue"/>
                <a:ea typeface="Helvetica Neue"/>
                <a:cs typeface="Helvetica Neue"/>
              </a:defRPr>
            </a:lvl9pPr>
          </a:lstStyle>
          <a:p xmlns:a="http://schemas.openxmlformats.org/drawingml/2006/main">
            <a:pPr>
              <a:defRPr sz="3300" b="1">
                <a:solidFill>
                  <a:srgbClr val="141414"/>
                </a:solidFill>
                <a:latin typeface="Helvetica Neue"/>
                <a:ea typeface="Helvetica Neue"/>
                <a:cs typeface="Helvetica Neue"/>
              </a:defRPr>
            </a:pPr>
            <a:r>
              <a:rPr sz="3300" b="1">
                <a:solidFill>
                  <a:srgbClr val="141414"/>
                </a:solidFill>
                <a:latin typeface="Helvetica Neue"/>
                <a:ea typeface="Helvetica Neue"/>
                <a:cs typeface="Helvetica Neue"/>
              </a:rPr>
              <a:t>Snowflake</a:t>
            </a:r>
          </a:p>
        </p:txBody>
      </p:sp>
      <p:sp>
        <p:nvSpPr>
          <p:cNvPr id="8" name="text-73">
            <a:extLst xmlns:a="http://schemas.openxmlformats.org/drawingml/2006/main">
              <a:ext uri="{FF2B5EF4-FFF2-40B4-BE49-F238E27FC236}">
                <a16:creationId xmlns:a16="http://schemas.microsoft.com/office/drawing/2014/main" id="{8727B440-81B7-4AB6-94CB-47289755A4D6}"/>
              </a:ext>
            </a:extLst>
          </p:cNvPr>
          <p:cNvSpPr>
            <a:spLocks xmlns:a="http://schemas.openxmlformats.org/drawingml/2006/main" noGrp="1"/>
          </p:cNvSpPr>
          <p:nvPr/>
        </p:nvSpPr>
        <p:spPr>
          <a:xfrm xmlns:a="http://schemas.openxmlformats.org/drawingml/2006/main">
            <a:off x="6762750" y="26098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Batch evaluation</a:t>
            </a:r>
          </a:p>
        </p:txBody>
      </p:sp>
      <p:sp>
        <p:nvSpPr>
          <p:cNvPr id="9" name="text-74">
            <a:extLst xmlns:a="http://schemas.openxmlformats.org/drawingml/2006/main">
              <a:ext uri="{FF2B5EF4-FFF2-40B4-BE49-F238E27FC236}">
                <a16:creationId xmlns:a16="http://schemas.microsoft.com/office/drawing/2014/main" id="{BE159378-D834-4447-A112-232CD2ACD3BA}"/>
              </a:ext>
            </a:extLst>
          </p:cNvPr>
          <p:cNvSpPr>
            <a:spLocks xmlns:a="http://schemas.openxmlformats.org/drawingml/2006/main" noGrp="1"/>
          </p:cNvSpPr>
          <p:nvPr/>
        </p:nvSpPr>
        <p:spPr>
          <a:xfrm xmlns:a="http://schemas.openxmlformats.org/drawingml/2006/main">
            <a:off x="6762750" y="3143250"/>
            <a:ext cx="4667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D6560"/>
                </a:solidFill>
                <a:latin typeface="Helvetica Neue"/>
                <a:ea typeface="Helvetica Neue"/>
                <a:cs typeface="Helvetica Neue"/>
              </a:defRPr>
            </a:defPPr>
            <a:lvl1pPr>
              <a:defRPr sz="2250" b="0">
                <a:solidFill>
                  <a:srgbClr val="5D6560"/>
                </a:solidFill>
                <a:latin typeface="Helvetica Neue"/>
                <a:ea typeface="Helvetica Neue"/>
                <a:cs typeface="Helvetica Neue"/>
              </a:defRPr>
            </a:lvl1pPr>
            <a:lvl2pPr>
              <a:defRPr sz="2250" b="0">
                <a:solidFill>
                  <a:srgbClr val="5D6560"/>
                </a:solidFill>
                <a:latin typeface="Helvetica Neue"/>
                <a:ea typeface="Helvetica Neue"/>
                <a:cs typeface="Helvetica Neue"/>
              </a:defRPr>
            </a:lvl2pPr>
            <a:lvl3pPr>
              <a:defRPr sz="2250" b="0">
                <a:solidFill>
                  <a:srgbClr val="5D6560"/>
                </a:solidFill>
                <a:latin typeface="Helvetica Neue"/>
                <a:ea typeface="Helvetica Neue"/>
                <a:cs typeface="Helvetica Neue"/>
              </a:defRPr>
            </a:lvl3pPr>
            <a:lvl4pPr>
              <a:defRPr sz="2250" b="0">
                <a:solidFill>
                  <a:srgbClr val="5D6560"/>
                </a:solidFill>
                <a:latin typeface="Helvetica Neue"/>
                <a:ea typeface="Helvetica Neue"/>
                <a:cs typeface="Helvetica Neue"/>
              </a:defRPr>
            </a:lvl4pPr>
            <a:lvl5pPr>
              <a:defRPr sz="2250" b="0">
                <a:solidFill>
                  <a:srgbClr val="5D6560"/>
                </a:solidFill>
                <a:latin typeface="Helvetica Neue"/>
                <a:ea typeface="Helvetica Neue"/>
                <a:cs typeface="Helvetica Neue"/>
              </a:defRPr>
            </a:lvl5pPr>
            <a:lvl6pPr>
              <a:defRPr sz="2250" b="0">
                <a:solidFill>
                  <a:srgbClr val="5D6560"/>
                </a:solidFill>
                <a:latin typeface="Helvetica Neue"/>
                <a:ea typeface="Helvetica Neue"/>
                <a:cs typeface="Helvetica Neue"/>
              </a:defRPr>
            </a:lvl6pPr>
            <a:lvl7pPr>
              <a:defRPr sz="2250" b="0">
                <a:solidFill>
                  <a:srgbClr val="5D6560"/>
                </a:solidFill>
                <a:latin typeface="Helvetica Neue"/>
                <a:ea typeface="Helvetica Neue"/>
                <a:cs typeface="Helvetica Neue"/>
              </a:defRPr>
            </a:lvl7pPr>
            <a:lvl8pPr>
              <a:defRPr sz="2250" b="0">
                <a:solidFill>
                  <a:srgbClr val="5D6560"/>
                </a:solidFill>
                <a:latin typeface="Helvetica Neue"/>
                <a:ea typeface="Helvetica Neue"/>
                <a:cs typeface="Helvetica Neue"/>
              </a:defRPr>
            </a:lvl8pPr>
            <a:lvl9pPr>
              <a:defRPr sz="2250" b="0">
                <a:solidFill>
                  <a:srgbClr val="5D6560"/>
                </a:solidFill>
                <a:latin typeface="Helvetica Neue"/>
                <a:ea typeface="Helvetica Neue"/>
                <a:cs typeface="Helvetica Neue"/>
              </a:defRPr>
            </a:lvl9pPr>
          </a:lstStyle>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Implemented public-data batch</a:t>
            </a:r>
          </a:p>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Pinned forecast lineage</a:t>
            </a:r>
          </a:p>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and error reconciliation</a:t>
            </a:r>
          </a:p>
        </p:txBody>
      </p:sp>
      <p:sp>
        <p:nvSpPr>
          <p:cNvPr id="10" name="text-75">
            <a:extLst xmlns:a="http://schemas.openxmlformats.org/drawingml/2006/main">
              <a:ext uri="{FF2B5EF4-FFF2-40B4-BE49-F238E27FC236}">
                <a16:creationId xmlns:a16="http://schemas.microsoft.com/office/drawing/2014/main" id="{B25119D5-C29D-429F-AD9D-EAD231909751}"/>
              </a:ext>
            </a:extLst>
          </p:cNvPr>
          <p:cNvSpPr>
            <a:spLocks xmlns:a="http://schemas.openxmlformats.org/drawingml/2006/main" noGrp="1"/>
          </p:cNvSpPr>
          <p:nvPr/>
        </p:nvSpPr>
        <p:spPr>
          <a:xfrm xmlns:a="http://schemas.openxmlformats.org/drawingml/2006/main">
            <a:off x="6762750" y="5114925"/>
            <a:ext cx="4667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Dry-run import/evaluation tested.</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Live warehouse acceptance pending.</a:t>
            </a:r>
          </a:p>
        </p:txBody>
      </p:sp>
    </p:spTree>
    <p:extLst>
      <p:ext uri="{BB962C8B-B14F-4D97-AF65-F5344CB8AC3E}">
        <p14:creationId xmlns:p14="http://schemas.microsoft.com/office/powerpoint/2010/main" val="61914259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76">
            <a:extLst xmlns:a="http://schemas.openxmlformats.org/drawingml/2006/main">
              <a:ext uri="{FF2B5EF4-FFF2-40B4-BE49-F238E27FC236}">
                <a16:creationId xmlns:a16="http://schemas.microsoft.com/office/drawing/2014/main" id="{5A4C2F91-2BC6-4FB6-BFC4-25FD22870D75}"/>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An HR forecast with a locked participant test</a:t>
            </a:r>
          </a:p>
        </p:txBody>
      </p:sp>
      <p:sp>
        <p:nvSpPr>
          <p:cNvPr id="2" name="text-77">
            <a:extLst xmlns:a="http://schemas.openxmlformats.org/drawingml/2006/main">
              <a:ext uri="{FF2B5EF4-FFF2-40B4-BE49-F238E27FC236}">
                <a16:creationId xmlns:a16="http://schemas.microsoft.com/office/drawing/2014/main" id="{A0012381-6351-4605-B8A8-1CCCB63BBF23}"/>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08</a:t>
            </a:r>
          </a:p>
        </p:txBody>
      </p:sp>
      <p:sp>
        <p:nvSpPr>
          <p:cNvPr id="3" name="text-78">
            <a:extLst xmlns:a="http://schemas.openxmlformats.org/drawingml/2006/main">
              <a:ext uri="{FF2B5EF4-FFF2-40B4-BE49-F238E27FC236}">
                <a16:creationId xmlns:a16="http://schemas.microsoft.com/office/drawing/2014/main" id="{21832A2F-3ECD-4476-8D80-CE88D6DEB9E8}"/>
              </a:ext>
            </a:extLst>
          </p:cNvPr>
          <p:cNvSpPr>
            <a:spLocks xmlns:a="http://schemas.openxmlformats.org/drawingml/2006/main" noGrp="1"/>
          </p:cNvSpPr>
          <p:nvPr/>
        </p:nvSpPr>
        <p:spPr>
          <a:xfrm xmlns:a="http://schemas.openxmlformats.org/drawingml/2006/main">
            <a:off x="762000" y="1457325"/>
            <a:ext cx="723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560"/>
                </a:solidFill>
                <a:latin typeface="Helvetica Neue"/>
                <a:ea typeface="Helvetica Neue"/>
                <a:cs typeface="Helvetica Neue"/>
              </a:defRPr>
            </a:defPPr>
            <a:lvl1pPr>
              <a:defRPr sz="1800" b="0">
                <a:solidFill>
                  <a:srgbClr val="5D6560"/>
                </a:solidFill>
                <a:latin typeface="Helvetica Neue"/>
                <a:ea typeface="Helvetica Neue"/>
                <a:cs typeface="Helvetica Neue"/>
              </a:defRPr>
            </a:lvl1pPr>
            <a:lvl2pPr>
              <a:defRPr sz="1800" b="0">
                <a:solidFill>
                  <a:srgbClr val="5D6560"/>
                </a:solidFill>
                <a:latin typeface="Helvetica Neue"/>
                <a:ea typeface="Helvetica Neue"/>
                <a:cs typeface="Helvetica Neue"/>
              </a:defRPr>
            </a:lvl2pPr>
            <a:lvl3pPr>
              <a:defRPr sz="1800" b="0">
                <a:solidFill>
                  <a:srgbClr val="5D6560"/>
                </a:solidFill>
                <a:latin typeface="Helvetica Neue"/>
                <a:ea typeface="Helvetica Neue"/>
                <a:cs typeface="Helvetica Neue"/>
              </a:defRPr>
            </a:lvl3pPr>
            <a:lvl4pPr>
              <a:defRPr sz="1800" b="0">
                <a:solidFill>
                  <a:srgbClr val="5D6560"/>
                </a:solidFill>
                <a:latin typeface="Helvetica Neue"/>
                <a:ea typeface="Helvetica Neue"/>
                <a:cs typeface="Helvetica Neue"/>
              </a:defRPr>
            </a:lvl4pPr>
            <a:lvl5pPr>
              <a:defRPr sz="1800" b="0">
                <a:solidFill>
                  <a:srgbClr val="5D6560"/>
                </a:solidFill>
                <a:latin typeface="Helvetica Neue"/>
                <a:ea typeface="Helvetica Neue"/>
                <a:cs typeface="Helvetica Neue"/>
              </a:defRPr>
            </a:lvl5pPr>
            <a:lvl6pPr>
              <a:defRPr sz="1800" b="0">
                <a:solidFill>
                  <a:srgbClr val="5D6560"/>
                </a:solidFill>
                <a:latin typeface="Helvetica Neue"/>
                <a:ea typeface="Helvetica Neue"/>
                <a:cs typeface="Helvetica Neue"/>
              </a:defRPr>
            </a:lvl6pPr>
            <a:lvl7pPr>
              <a:defRPr sz="1800" b="0">
                <a:solidFill>
                  <a:srgbClr val="5D6560"/>
                </a:solidFill>
                <a:latin typeface="Helvetica Neue"/>
                <a:ea typeface="Helvetica Neue"/>
                <a:cs typeface="Helvetica Neue"/>
              </a:defRPr>
            </a:lvl7pPr>
            <a:lvl8pPr>
              <a:defRPr sz="1800" b="0">
                <a:solidFill>
                  <a:srgbClr val="5D6560"/>
                </a:solidFill>
                <a:latin typeface="Helvetica Neue"/>
                <a:ea typeface="Helvetica Neue"/>
                <a:cs typeface="Helvetica Neue"/>
              </a:defRPr>
            </a:lvl8pPr>
            <a:lvl9pPr>
              <a:defRPr sz="1800" b="0">
                <a:solidFill>
                  <a:srgbClr val="5D6560"/>
                </a:solidFill>
                <a:latin typeface="Helvetica Neue"/>
                <a:ea typeface="Helvetica Neue"/>
                <a:cs typeface="Helvetica Neue"/>
              </a:defRPr>
            </a:lvl9pPr>
          </a:lstStyle>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Future 5s mean HR, using the previous 60 seconds</a:t>
            </a:r>
          </a:p>
        </p:txBody>
      </p:sp>
      <p:graphicFrame>
        <p:nvGraphicFramePr>
          <p:cNvPr id="4" name="Chart">
            <a:extLst xmlns:a="http://schemas.openxmlformats.org/drawingml/2006/main">
              <a:ext uri="{FF2B5EF4-FFF2-40B4-BE49-F238E27FC236}">
                <a16:creationId xmlns:a16="http://schemas.microsoft.com/office/drawing/2014/main" id="{2A450C1B-3DE5-4439-9D0C-3D733C452124}"/>
              </a:ext>
            </a:extLst>
          </p:cNvPr>
          <p:cNvGraphicFramePr/>
          <p:nvPr/>
        </p:nvGraphicFramePr>
        <p:xfrm>
          <a:off xmlns:a="http://schemas.openxmlformats.org/drawingml/2006/main" x="714375" y="1905000"/>
          <a:ext xmlns:a="http://schemas.openxmlformats.org/drawingml/2006/main" cx="7000875" cy="3667125"/>
        </p:xfrm>
        <a:graphic xmlns:a="http://schemas.openxmlformats.org/drawingml/2006/main">
          <a:graphicData uri="http://schemas.openxmlformats.org/drawingml/2006/chart">
            <c:chart xmlns:r="http://schemas.openxmlformats.org/officeDocument/2006/relationships" xmlns:c="http://schemas.openxmlformats.org/drawingml/2006/chart" r:id="R70caaa97602747fb"/>
          </a:graphicData>
        </a:graphic>
      </p:graphicFrame>
      <p:sp>
        <p:nvSpPr>
          <p:cNvPr id="5" name="text-79">
            <a:extLst xmlns:a="http://schemas.openxmlformats.org/drawingml/2006/main">
              <a:ext uri="{FF2B5EF4-FFF2-40B4-BE49-F238E27FC236}">
                <a16:creationId xmlns:a16="http://schemas.microsoft.com/office/drawing/2014/main" id="{6B45517C-B0B6-46B0-8A21-8A1C4CF32A4C}"/>
              </a:ext>
            </a:extLst>
          </p:cNvPr>
          <p:cNvSpPr>
            <a:spLocks xmlns:a="http://schemas.openxmlformats.org/drawingml/2006/main" noGrp="1"/>
          </p:cNvSpPr>
          <p:nvPr/>
        </p:nvSpPr>
        <p:spPr>
          <a:xfrm xmlns:a="http://schemas.openxmlformats.org/drawingml/2006/main">
            <a:off x="8239125" y="190500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Test coverage</a:t>
            </a:r>
          </a:p>
        </p:txBody>
      </p:sp>
      <p:sp>
        <p:nvSpPr>
          <p:cNvPr id="6" name="text-80">
            <a:extLst xmlns:a="http://schemas.openxmlformats.org/drawingml/2006/main">
              <a:ext uri="{FF2B5EF4-FFF2-40B4-BE49-F238E27FC236}">
                <a16:creationId xmlns:a16="http://schemas.microsoft.com/office/drawing/2014/main" id="{62E3CB05-CB25-4CCA-BA66-854C8F8D4761}"/>
              </a:ext>
            </a:extLst>
          </p:cNvPr>
          <p:cNvSpPr>
            <a:spLocks xmlns:a="http://schemas.openxmlformats.org/drawingml/2006/main" noGrp="1"/>
          </p:cNvSpPr>
          <p:nvPr/>
        </p:nvSpPr>
        <p:spPr>
          <a:xfrm xmlns:a="http://schemas.openxmlformats.org/drawingml/2006/main">
            <a:off x="8239125" y="23717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41414"/>
                </a:solidFill>
                <a:latin typeface="Helvetica Neue"/>
                <a:ea typeface="Helvetica Neue"/>
                <a:cs typeface="Helvetica Neue"/>
              </a:defRPr>
            </a:defPPr>
            <a:lvl1pPr>
              <a:defRPr sz="2175" b="1">
                <a:solidFill>
                  <a:srgbClr val="141414"/>
                </a:solidFill>
                <a:latin typeface="Helvetica Neue"/>
                <a:ea typeface="Helvetica Neue"/>
                <a:cs typeface="Helvetica Neue"/>
              </a:defRPr>
            </a:lvl1pPr>
            <a:lvl2pPr>
              <a:defRPr sz="2175" b="1">
                <a:solidFill>
                  <a:srgbClr val="141414"/>
                </a:solidFill>
                <a:latin typeface="Helvetica Neue"/>
                <a:ea typeface="Helvetica Neue"/>
                <a:cs typeface="Helvetica Neue"/>
              </a:defRPr>
            </a:lvl2pPr>
            <a:lvl3pPr>
              <a:defRPr sz="2175" b="1">
                <a:solidFill>
                  <a:srgbClr val="141414"/>
                </a:solidFill>
                <a:latin typeface="Helvetica Neue"/>
                <a:ea typeface="Helvetica Neue"/>
                <a:cs typeface="Helvetica Neue"/>
              </a:defRPr>
            </a:lvl3pPr>
            <a:lvl4pPr>
              <a:defRPr sz="2175" b="1">
                <a:solidFill>
                  <a:srgbClr val="141414"/>
                </a:solidFill>
                <a:latin typeface="Helvetica Neue"/>
                <a:ea typeface="Helvetica Neue"/>
                <a:cs typeface="Helvetica Neue"/>
              </a:defRPr>
            </a:lvl4pPr>
            <a:lvl5pPr>
              <a:defRPr sz="2175" b="1">
                <a:solidFill>
                  <a:srgbClr val="141414"/>
                </a:solidFill>
                <a:latin typeface="Helvetica Neue"/>
                <a:ea typeface="Helvetica Neue"/>
                <a:cs typeface="Helvetica Neue"/>
              </a:defRPr>
            </a:lvl5pPr>
            <a:lvl6pPr>
              <a:defRPr sz="2175" b="1">
                <a:solidFill>
                  <a:srgbClr val="141414"/>
                </a:solidFill>
                <a:latin typeface="Helvetica Neue"/>
                <a:ea typeface="Helvetica Neue"/>
                <a:cs typeface="Helvetica Neue"/>
              </a:defRPr>
            </a:lvl6pPr>
            <a:lvl7pPr>
              <a:defRPr sz="2175" b="1">
                <a:solidFill>
                  <a:srgbClr val="141414"/>
                </a:solidFill>
                <a:latin typeface="Helvetica Neue"/>
                <a:ea typeface="Helvetica Neue"/>
                <a:cs typeface="Helvetica Neue"/>
              </a:defRPr>
            </a:lvl7pPr>
            <a:lvl8pPr>
              <a:defRPr sz="2175" b="1">
                <a:solidFill>
                  <a:srgbClr val="141414"/>
                </a:solidFill>
                <a:latin typeface="Helvetica Neue"/>
                <a:ea typeface="Helvetica Neue"/>
                <a:cs typeface="Helvetica Neue"/>
              </a:defRPr>
            </a:lvl8pPr>
            <a:lvl9pPr>
              <a:defRPr sz="2175" b="1">
                <a:solidFill>
                  <a:srgbClr val="141414"/>
                </a:solidFill>
                <a:latin typeface="Helvetica Neue"/>
                <a:ea typeface="Helvetica Neue"/>
                <a:cs typeface="Helvetica Neue"/>
              </a:defRPr>
            </a:lvl9pPr>
          </a:lstStyle>
          <a:p xmlns:a="http://schemas.openxmlformats.org/drawingml/2006/main">
            <a:pPr>
              <a:defRPr sz="2175" b="1">
                <a:solidFill>
                  <a:srgbClr val="141414"/>
                </a:solidFill>
                <a:latin typeface="Helvetica Neue"/>
                <a:ea typeface="Helvetica Neue"/>
                <a:cs typeface="Helvetica Neue"/>
              </a:defRPr>
            </a:pPr>
            <a:r>
              <a:rPr sz="2175" b="1">
                <a:solidFill>
                  <a:srgbClr val="141414"/>
                </a:solidFill>
                <a:latin typeface="Helvetica Neue"/>
                <a:ea typeface="Helvetica Neue"/>
                <a:cs typeface="Helvetica Neue"/>
              </a:rPr>
              <a:t>Participants 108 / 109</a:t>
            </a:r>
          </a:p>
        </p:txBody>
      </p:sp>
      <p:sp>
        <p:nvSpPr>
          <p:cNvPr id="7" name="text-81">
            <a:extLst xmlns:a="http://schemas.openxmlformats.org/drawingml/2006/main">
              <a:ext uri="{FF2B5EF4-FFF2-40B4-BE49-F238E27FC236}">
                <a16:creationId xmlns:a16="http://schemas.microsoft.com/office/drawing/2014/main" id="{888467A9-D81E-447F-8BB9-68418A8BE2BB}"/>
              </a:ext>
            </a:extLst>
          </p:cNvPr>
          <p:cNvSpPr>
            <a:spLocks xmlns:a="http://schemas.openxmlformats.org/drawingml/2006/main" noGrp="1"/>
          </p:cNvSpPr>
          <p:nvPr/>
        </p:nvSpPr>
        <p:spPr>
          <a:xfrm xmlns:a="http://schemas.openxmlformats.org/drawingml/2006/main">
            <a:off x="8239125" y="309562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D6560"/>
                </a:solidFill>
                <a:latin typeface="Helvetica Neue"/>
                <a:ea typeface="Helvetica Neue"/>
                <a:cs typeface="Helvetica Neue"/>
              </a:defRPr>
            </a:defPPr>
            <a:lvl1pPr>
              <a:defRPr sz="2100" b="0">
                <a:solidFill>
                  <a:srgbClr val="5D6560"/>
                </a:solidFill>
                <a:latin typeface="Helvetica Neue"/>
                <a:ea typeface="Helvetica Neue"/>
                <a:cs typeface="Helvetica Neue"/>
              </a:defRPr>
            </a:lvl1pPr>
            <a:lvl2pPr>
              <a:defRPr sz="2100" b="0">
                <a:solidFill>
                  <a:srgbClr val="5D6560"/>
                </a:solidFill>
                <a:latin typeface="Helvetica Neue"/>
                <a:ea typeface="Helvetica Neue"/>
                <a:cs typeface="Helvetica Neue"/>
              </a:defRPr>
            </a:lvl2pPr>
            <a:lvl3pPr>
              <a:defRPr sz="2100" b="0">
                <a:solidFill>
                  <a:srgbClr val="5D6560"/>
                </a:solidFill>
                <a:latin typeface="Helvetica Neue"/>
                <a:ea typeface="Helvetica Neue"/>
                <a:cs typeface="Helvetica Neue"/>
              </a:defRPr>
            </a:lvl3pPr>
            <a:lvl4pPr>
              <a:defRPr sz="2100" b="0">
                <a:solidFill>
                  <a:srgbClr val="5D6560"/>
                </a:solidFill>
                <a:latin typeface="Helvetica Neue"/>
                <a:ea typeface="Helvetica Neue"/>
                <a:cs typeface="Helvetica Neue"/>
              </a:defRPr>
            </a:lvl4pPr>
            <a:lvl5pPr>
              <a:defRPr sz="2100" b="0">
                <a:solidFill>
                  <a:srgbClr val="5D6560"/>
                </a:solidFill>
                <a:latin typeface="Helvetica Neue"/>
                <a:ea typeface="Helvetica Neue"/>
                <a:cs typeface="Helvetica Neue"/>
              </a:defRPr>
            </a:lvl5pPr>
            <a:lvl6pPr>
              <a:defRPr sz="2100" b="0">
                <a:solidFill>
                  <a:srgbClr val="5D6560"/>
                </a:solidFill>
                <a:latin typeface="Helvetica Neue"/>
                <a:ea typeface="Helvetica Neue"/>
                <a:cs typeface="Helvetica Neue"/>
              </a:defRPr>
            </a:lvl6pPr>
            <a:lvl7pPr>
              <a:defRPr sz="2100" b="0">
                <a:solidFill>
                  <a:srgbClr val="5D6560"/>
                </a:solidFill>
                <a:latin typeface="Helvetica Neue"/>
                <a:ea typeface="Helvetica Neue"/>
                <a:cs typeface="Helvetica Neue"/>
              </a:defRPr>
            </a:lvl7pPr>
            <a:lvl8pPr>
              <a:defRPr sz="2100" b="0">
                <a:solidFill>
                  <a:srgbClr val="5D6560"/>
                </a:solidFill>
                <a:latin typeface="Helvetica Neue"/>
                <a:ea typeface="Helvetica Neue"/>
                <a:cs typeface="Helvetica Neue"/>
              </a:defRPr>
            </a:lvl8pPr>
            <a:lvl9pPr>
              <a:defRPr sz="2100" b="0">
                <a:solidFill>
                  <a:srgbClr val="5D6560"/>
                </a:solidFill>
                <a:latin typeface="Helvetica Neue"/>
                <a:ea typeface="Helvetica Neue"/>
                <a:cs typeface="Helvetica Neue"/>
              </a:defRPr>
            </a:lvl9pPr>
          </a:lstStyle>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10s: 803 + 4 forecasts</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30s: 799 + 0 forecasts</a:t>
            </a:r>
          </a:p>
        </p:txBody>
      </p:sp>
      <p:sp>
        <p:nvSpPr>
          <p:cNvPr id="8" name="text-82">
            <a:extLst xmlns:a="http://schemas.openxmlformats.org/drawingml/2006/main">
              <a:ext uri="{FF2B5EF4-FFF2-40B4-BE49-F238E27FC236}">
                <a16:creationId xmlns:a16="http://schemas.microsoft.com/office/drawing/2014/main" id="{94593023-CAC4-4A92-81B1-7BACD55C3700}"/>
              </a:ext>
            </a:extLst>
          </p:cNvPr>
          <p:cNvSpPr>
            <a:spLocks xmlns:a="http://schemas.openxmlformats.org/drawingml/2006/main" noGrp="1"/>
          </p:cNvSpPr>
          <p:nvPr/>
        </p:nvSpPr>
        <p:spPr>
          <a:xfrm xmlns:a="http://schemas.openxmlformats.org/drawingml/2006/main">
            <a:off x="8239125" y="452437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The adapter</a:t>
            </a:r>
          </a:p>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increased error</a:t>
            </a:r>
          </a:p>
        </p:txBody>
      </p:sp>
      <p:sp>
        <p:nvSpPr>
          <p:cNvPr id="9" name="text-83">
            <a:extLst xmlns:a="http://schemas.openxmlformats.org/drawingml/2006/main">
              <a:ext uri="{FF2B5EF4-FFF2-40B4-BE49-F238E27FC236}">
                <a16:creationId xmlns:a16="http://schemas.microsoft.com/office/drawing/2014/main" id="{CDF3E0F4-4D17-4A17-ACEC-D7DC361C6CC9}"/>
              </a:ext>
            </a:extLst>
          </p:cNvPr>
          <p:cNvSpPr>
            <a:spLocks xmlns:a="http://schemas.openxmlformats.org/drawingml/2006/main" noGrp="1"/>
          </p:cNvSpPr>
          <p:nvPr/>
        </p:nvSpPr>
        <p:spPr>
          <a:xfrm xmlns:a="http://schemas.openxmlformats.org/drawingml/2006/main">
            <a:off x="762000" y="5953125"/>
            <a:ext cx="1057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560"/>
                </a:solidFill>
                <a:latin typeface="Helvetica Neue"/>
                <a:ea typeface="Helvetica Neue"/>
                <a:cs typeface="Helvetica Neue"/>
              </a:defRPr>
            </a:defPPr>
            <a:lvl1pPr>
              <a:defRPr sz="1800" b="0">
                <a:solidFill>
                  <a:srgbClr val="5D6560"/>
                </a:solidFill>
                <a:latin typeface="Helvetica Neue"/>
                <a:ea typeface="Helvetica Neue"/>
                <a:cs typeface="Helvetica Neue"/>
              </a:defRPr>
            </a:lvl1pPr>
            <a:lvl2pPr>
              <a:defRPr sz="1800" b="0">
                <a:solidFill>
                  <a:srgbClr val="5D6560"/>
                </a:solidFill>
                <a:latin typeface="Helvetica Neue"/>
                <a:ea typeface="Helvetica Neue"/>
                <a:cs typeface="Helvetica Neue"/>
              </a:defRPr>
            </a:lvl2pPr>
            <a:lvl3pPr>
              <a:defRPr sz="1800" b="0">
                <a:solidFill>
                  <a:srgbClr val="5D6560"/>
                </a:solidFill>
                <a:latin typeface="Helvetica Neue"/>
                <a:ea typeface="Helvetica Neue"/>
                <a:cs typeface="Helvetica Neue"/>
              </a:defRPr>
            </a:lvl3pPr>
            <a:lvl4pPr>
              <a:defRPr sz="1800" b="0">
                <a:solidFill>
                  <a:srgbClr val="5D6560"/>
                </a:solidFill>
                <a:latin typeface="Helvetica Neue"/>
                <a:ea typeface="Helvetica Neue"/>
                <a:cs typeface="Helvetica Neue"/>
              </a:defRPr>
            </a:lvl4pPr>
            <a:lvl5pPr>
              <a:defRPr sz="1800" b="0">
                <a:solidFill>
                  <a:srgbClr val="5D6560"/>
                </a:solidFill>
                <a:latin typeface="Helvetica Neue"/>
                <a:ea typeface="Helvetica Neue"/>
                <a:cs typeface="Helvetica Neue"/>
              </a:defRPr>
            </a:lvl5pPr>
            <a:lvl6pPr>
              <a:defRPr sz="1800" b="0">
                <a:solidFill>
                  <a:srgbClr val="5D6560"/>
                </a:solidFill>
                <a:latin typeface="Helvetica Neue"/>
                <a:ea typeface="Helvetica Neue"/>
                <a:cs typeface="Helvetica Neue"/>
              </a:defRPr>
            </a:lvl6pPr>
            <a:lvl7pPr>
              <a:defRPr sz="1800" b="0">
                <a:solidFill>
                  <a:srgbClr val="5D6560"/>
                </a:solidFill>
                <a:latin typeface="Helvetica Neue"/>
                <a:ea typeface="Helvetica Neue"/>
                <a:cs typeface="Helvetica Neue"/>
              </a:defRPr>
            </a:lvl7pPr>
            <a:lvl8pPr>
              <a:defRPr sz="1800" b="0">
                <a:solidFill>
                  <a:srgbClr val="5D6560"/>
                </a:solidFill>
                <a:latin typeface="Helvetica Neue"/>
                <a:ea typeface="Helvetica Neue"/>
                <a:cs typeface="Helvetica Neue"/>
              </a:defRPr>
            </a:lvl8pPr>
            <a:lvl9pPr>
              <a:defRPr sz="1800" b="0">
                <a:solidFill>
                  <a:srgbClr val="5D6560"/>
                </a:solidFill>
                <a:latin typeface="Helvetica Neue"/>
                <a:ea typeface="Helvetica Neue"/>
                <a:cs typeface="Helvetica Neue"/>
              </a:defRPr>
            </a:lvl9pPr>
          </a:lstStyle>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Exploratory public-data result. Only one person contributes at 30s. No Watch or failure validation.</a:t>
            </a:r>
          </a:p>
        </p:txBody>
      </p:sp>
    </p:spTree>
    <p:extLst>
      <p:ext uri="{BB962C8B-B14F-4D97-AF65-F5344CB8AC3E}">
        <p14:creationId xmlns:p14="http://schemas.microsoft.com/office/powerpoint/2010/main" val="31308198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84">
            <a:extLst xmlns:a="http://schemas.openxmlformats.org/drawingml/2006/main">
              <a:ext uri="{FF2B5EF4-FFF2-40B4-BE49-F238E27FC236}">
                <a16:creationId xmlns:a16="http://schemas.microsoft.com/office/drawing/2014/main" id="{FC35F6BC-DD73-4EE2-97CB-76C0CD5DAE06}"/>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Provider evidence and remaining gates</a:t>
            </a:r>
          </a:p>
        </p:txBody>
      </p:sp>
      <p:sp>
        <p:nvSpPr>
          <p:cNvPr id="2" name="text-85">
            <a:extLst xmlns:a="http://schemas.openxmlformats.org/drawingml/2006/main">
              <a:ext uri="{FF2B5EF4-FFF2-40B4-BE49-F238E27FC236}">
                <a16:creationId xmlns:a16="http://schemas.microsoft.com/office/drawing/2014/main" id="{CB3C11A6-70D3-421F-958C-BE3A7E863F7F}"/>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09</a:t>
            </a:r>
          </a:p>
        </p:txBody>
      </p:sp>
      <p:graphicFrame>
        <p:nvGraphicFramePr>
          <p:cNvPr id="3" name="">
            <a:extLst xmlns:a="http://schemas.openxmlformats.org/drawingml/2006/main">
              <a:ext uri="{FF2B5EF4-FFF2-40B4-BE49-F238E27FC236}">
                <a16:creationId xmlns:a16="http://schemas.microsoft.com/office/drawing/2014/main" id="{88398C82-73AC-4104-A985-FD8D3F7FE526}"/>
              </a:ext>
            </a:extLst>
          </p:cNvPr>
          <p:cNvGraphicFramePr/>
          <p:nvPr/>
        </p:nvGraphicFramePr>
        <p:xfrm>
          <a:off xmlns:a="http://schemas.openxmlformats.org/drawingml/2006/main" x="742950" y="1562100"/>
          <a:ext xmlns:a="http://schemas.openxmlformats.org/drawingml/2006/main" cx="10706100" cy="4267200"/>
        </p:xfrm>
        <a:graphic xmlns:a="http://schemas.openxmlformats.org/drawingml/2006/main">
          <a:graphicData uri="http://schemas.openxmlformats.org/drawingml/2006/table">
            <a:tbl>
              <a:tblPr/>
              <a:tblGrid>
                <a:gridCol w="1943100"/>
                <a:gridCol w="3276600"/>
                <a:gridCol w="5486400"/>
              </a:tblGrid>
              <a:tr h="533400">
                <a:tc>
                  <a:txBody>
                    <a:bodyPr/>
                    <a:lstStyle/>
                    <a:p>
                      <a:r>
                        <a:rPr sz="1725" b="1">
                          <a:solidFill>
                            <a:srgbClr val="FFFFFF"/>
                          </a:solidFill>
                          <a:latin typeface="Helvetica Neue"/>
                          <a:ea typeface="Helvetica Neue"/>
                          <a:cs typeface="Helvetica Neue"/>
                        </a:rPr>
                        <a:t>Track</a:t>
                      </a:r>
                    </a:p>
                  </a:txBody>
                  <a:tcPr marL="114300" marR="95250" marT="95250" marB="66675">
                    <a:lnL w="9525">
                      <a:solidFill>
                        <a:srgbClr val="DCE4DF"/>
                      </a:solidFill>
                      <a:prstDash val="solid"/>
                    </a:lnL>
                    <a:lnR w="9525">
                      <a:solidFill>
                        <a:srgbClr val="DCE4DF"/>
                      </a:solidFill>
                      <a:prstDash val="solid"/>
                    </a:lnR>
                    <a:lnT w="9525">
                      <a:solidFill>
                        <a:srgbClr val="DCE4DF"/>
                      </a:solidFill>
                      <a:prstDash val="solid"/>
                    </a:lnT>
                    <a:lnB w="9525">
                      <a:solidFill>
                        <a:srgbClr val="DCE4DF"/>
                      </a:solidFill>
                      <a:prstDash val="solid"/>
                    </a:lnB>
                    <a:solidFill>
                      <a:srgbClr val="141414"/>
                    </a:solidFill>
                  </a:tcPr>
                </a:tc>
                <a:tc>
                  <a:txBody>
                    <a:bodyPr/>
                    <a:lstStyle/>
                    <a:p>
                      <a:r>
                        <a:rPr sz="1725" b="1">
                          <a:solidFill>
                            <a:srgbClr val="FFFFFF"/>
                          </a:solidFill>
                          <a:latin typeface="Helvetica Neue"/>
                          <a:ea typeface="Helvetica Neue"/>
                          <a:cs typeface="Helvetica Neue"/>
                        </a:rPr>
                        <a:t>Evidence now</a:t>
                      </a:r>
                    </a:p>
                  </a:txBody>
                  <a:tcPr marL="114300" marR="95250" marT="95250" marB="66675">
                    <a:lnR w="9525">
                      <a:solidFill>
                        <a:srgbClr val="DCE4DF"/>
                      </a:solidFill>
                      <a:prstDash val="solid"/>
                    </a:lnR>
                    <a:lnT w="9525">
                      <a:solidFill>
                        <a:srgbClr val="DCE4DF"/>
                      </a:solidFill>
                      <a:prstDash val="solid"/>
                    </a:lnT>
                    <a:lnB w="9525">
                      <a:solidFill>
                        <a:srgbClr val="DCE4DF"/>
                      </a:solidFill>
                      <a:prstDash val="solid"/>
                    </a:lnB>
                    <a:solidFill>
                      <a:srgbClr val="141414"/>
                    </a:solidFill>
                  </a:tcPr>
                </a:tc>
                <a:tc>
                  <a:txBody>
                    <a:bodyPr/>
                    <a:lstStyle/>
                    <a:p>
                      <a:r>
                        <a:rPr sz="1725" b="1">
                          <a:solidFill>
                            <a:srgbClr val="FFFFFF"/>
                          </a:solidFill>
                          <a:latin typeface="Helvetica Neue"/>
                          <a:ea typeface="Helvetica Neue"/>
                          <a:cs typeface="Helvetica Neue"/>
                        </a:rPr>
                        <a:t>Remaining gate</a:t>
                      </a:r>
                    </a:p>
                  </a:txBody>
                  <a:tcPr marL="114300" marR="95250" marT="95250" marB="66675">
                    <a:lnR w="9525">
                      <a:solidFill>
                        <a:srgbClr val="DCE4DF"/>
                      </a:solidFill>
                      <a:prstDash val="solid"/>
                    </a:lnR>
                    <a:lnT w="9525">
                      <a:solidFill>
                        <a:srgbClr val="DCE4DF"/>
                      </a:solidFill>
                      <a:prstDash val="solid"/>
                    </a:lnT>
                    <a:lnB w="9525">
                      <a:solidFill>
                        <a:srgbClr val="DCE4DF"/>
                      </a:solidFill>
                      <a:prstDash val="solid"/>
                    </a:lnB>
                    <a:solidFill>
                      <a:srgbClr val="141414"/>
                    </a:solidFill>
                  </a:tcPr>
                </a:tc>
              </a:tr>
              <a:tr h="533400">
                <a:tc>
                  <a:txBody>
                    <a:bodyPr/>
                    <a:lstStyle/>
                    <a:p>
                      <a:r>
                        <a:rPr sz="1725">
                          <a:solidFill>
                            <a:srgbClr val="141414"/>
                          </a:solidFill>
                          <a:latin typeface="Helvetica Neue"/>
                          <a:ea typeface="Helvetica Neue"/>
                          <a:cs typeface="Helvetica Neue"/>
                        </a:rPr>
                        <a:t>Gemini</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4 native types; synthetic</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Physical network; real-user review</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Tiger Data</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Console schema; zero rows</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Strict Node TLS; ingest/readback</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Snowflake</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Pinned batch workflow tested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Existing warehouse and live SQL</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Vultr</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Local ARM64 runtime checked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Spend scope; hosted TLS/auth</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ElevenLabs</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Local Apple speech only</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API secret and audible acceptance</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Presage</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SDK plan prepared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Vitals egress decision and credits</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Delta</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Judge packet prepared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Operator/legal step, then one review</a:t>
                      </a:r>
                    </a:p>
                  </a:txBody>
                  <a:tcPr marL="114300" marR="95250" marT="95250" marB="66675">
                    <a:lnR w="9525">
                      <a:solidFill>
                        <a:srgbClr val="DCE4DF"/>
                      </a:solidFill>
                      <a:prstDash val="solid"/>
                    </a:lnR>
                    <a:lnB w="9525">
                      <a:solidFill>
                        <a:srgbClr val="DCE4DF"/>
                      </a:solidFill>
                      <a:prstDash val="solid"/>
                    </a:lnB>
                    <a:solidFill>
                      <a:srgbClr val="FFFFFF"/>
                    </a:solidFill>
                  </a:tcPr>
                </a:tc>
              </a:tr>
            </a:tbl>
          </a:graphicData>
        </a:graphic>
      </p:graphicFrame>
      <p:sp>
        <p:nvSpPr>
          <p:cNvPr id="4" name="text-86">
            <a:extLst xmlns:a="http://schemas.openxmlformats.org/drawingml/2006/main">
              <a:ext uri="{FF2B5EF4-FFF2-40B4-BE49-F238E27FC236}">
                <a16:creationId xmlns:a16="http://schemas.microsoft.com/office/drawing/2014/main" id="{F08533D8-2B2B-4E0C-BF0F-5F8AB6E3B158}"/>
              </a:ext>
            </a:extLst>
          </p:cNvPr>
          <p:cNvSpPr>
            <a:spLocks xmlns:a="http://schemas.openxmlformats.org/drawingml/2006/main" noGrp="1"/>
          </p:cNvSpPr>
          <p:nvPr/>
        </p:nvSpPr>
        <p:spPr>
          <a:xfrm xmlns:a="http://schemas.openxmlformats.org/drawingml/2006/main">
            <a:off x="762000" y="5972175"/>
            <a:ext cx="981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560"/>
                </a:solidFill>
                <a:latin typeface="Helvetica Neue"/>
                <a:ea typeface="Helvetica Neue"/>
                <a:cs typeface="Helvetica Neue"/>
              </a:defRPr>
            </a:defPPr>
            <a:lvl1pPr>
              <a:defRPr sz="1725" b="0">
                <a:solidFill>
                  <a:srgbClr val="5D6560"/>
                </a:solidFill>
                <a:latin typeface="Helvetica Neue"/>
                <a:ea typeface="Helvetica Neue"/>
                <a:cs typeface="Helvetica Neue"/>
              </a:defRPr>
            </a:lvl1pPr>
            <a:lvl2pPr>
              <a:defRPr sz="1725" b="0">
                <a:solidFill>
                  <a:srgbClr val="5D6560"/>
                </a:solidFill>
                <a:latin typeface="Helvetica Neue"/>
                <a:ea typeface="Helvetica Neue"/>
                <a:cs typeface="Helvetica Neue"/>
              </a:defRPr>
            </a:lvl2pPr>
            <a:lvl3pPr>
              <a:defRPr sz="1725" b="0">
                <a:solidFill>
                  <a:srgbClr val="5D6560"/>
                </a:solidFill>
                <a:latin typeface="Helvetica Neue"/>
                <a:ea typeface="Helvetica Neue"/>
                <a:cs typeface="Helvetica Neue"/>
              </a:defRPr>
            </a:lvl3pPr>
            <a:lvl4pPr>
              <a:defRPr sz="1725" b="0">
                <a:solidFill>
                  <a:srgbClr val="5D6560"/>
                </a:solidFill>
                <a:latin typeface="Helvetica Neue"/>
                <a:ea typeface="Helvetica Neue"/>
                <a:cs typeface="Helvetica Neue"/>
              </a:defRPr>
            </a:lvl4pPr>
            <a:lvl5pPr>
              <a:defRPr sz="1725" b="0">
                <a:solidFill>
                  <a:srgbClr val="5D6560"/>
                </a:solidFill>
                <a:latin typeface="Helvetica Neue"/>
                <a:ea typeface="Helvetica Neue"/>
                <a:cs typeface="Helvetica Neue"/>
              </a:defRPr>
            </a:lvl5pPr>
            <a:lvl6pPr>
              <a:defRPr sz="1725" b="0">
                <a:solidFill>
                  <a:srgbClr val="5D6560"/>
                </a:solidFill>
                <a:latin typeface="Helvetica Neue"/>
                <a:ea typeface="Helvetica Neue"/>
                <a:cs typeface="Helvetica Neue"/>
              </a:defRPr>
            </a:lvl6pPr>
            <a:lvl7pPr>
              <a:defRPr sz="1725" b="0">
                <a:solidFill>
                  <a:srgbClr val="5D6560"/>
                </a:solidFill>
                <a:latin typeface="Helvetica Neue"/>
                <a:ea typeface="Helvetica Neue"/>
                <a:cs typeface="Helvetica Neue"/>
              </a:defRPr>
            </a:lvl7pPr>
            <a:lvl8pPr>
              <a:defRPr sz="1725" b="0">
                <a:solidFill>
                  <a:srgbClr val="5D6560"/>
                </a:solidFill>
                <a:latin typeface="Helvetica Neue"/>
                <a:ea typeface="Helvetica Neue"/>
                <a:cs typeface="Helvetica Neue"/>
              </a:defRPr>
            </a:lvl8pPr>
            <a:lvl9pPr>
              <a:defRPr sz="1725" b="0">
                <a:solidFill>
                  <a:srgbClr val="5D6560"/>
                </a:solidFill>
                <a:latin typeface="Helvetica Neue"/>
                <a:ea typeface="Helvetica Neue"/>
                <a:cs typeface="Helvetica Neue"/>
              </a:defRPr>
            </a:lvl9pPr>
          </a:lstStyle>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Web prototype: 92 offline checks; real cloud upload pending.</a:t>
            </a:r>
          </a:p>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Landing: local browser accepted; public deployment pending.</a:t>
            </a:r>
          </a:p>
        </p:txBody>
      </p:sp>
    </p:spTree>
    <p:extLst>
      <p:ext uri="{BB962C8B-B14F-4D97-AF65-F5344CB8AC3E}">
        <p14:creationId xmlns:p14="http://schemas.microsoft.com/office/powerpoint/2010/main" val="197574899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ext-87">
            <a:extLst xmlns:a="http://schemas.openxmlformats.org/drawingml/2006/main">
              <a:ext uri="{FF2B5EF4-FFF2-40B4-BE49-F238E27FC236}">
                <a16:creationId xmlns:a16="http://schemas.microsoft.com/office/drawing/2014/main" id="{CDAA6975-F33B-4FD9-B93C-D27289BB6CC0}"/>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A two-minute demo of the implemented flow</a:t>
            </a:r>
          </a:p>
        </p:txBody>
      </p:sp>
      <p:sp>
        <p:nvSpPr>
          <p:cNvPr id="2" name="text-88">
            <a:extLst xmlns:a="http://schemas.openxmlformats.org/drawingml/2006/main">
              <a:ext uri="{FF2B5EF4-FFF2-40B4-BE49-F238E27FC236}">
                <a16:creationId xmlns:a16="http://schemas.microsoft.com/office/drawing/2014/main" id="{417DC9A3-FE40-45E9-ADA5-867888692262}"/>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10</a:t>
            </a:r>
          </a:p>
        </p:txBody>
      </p:sp>
      <p:sp>
        <p:nvSpPr>
          <p:cNvPr id="3" name="text-89">
            <a:extLst xmlns:a="http://schemas.openxmlformats.org/drawingml/2006/main">
              <a:ext uri="{FF2B5EF4-FFF2-40B4-BE49-F238E27FC236}">
                <a16:creationId xmlns:a16="http://schemas.microsoft.com/office/drawing/2014/main" id="{356B7066-9E77-442D-9173-8452B78F0C9E}"/>
              </a:ext>
            </a:extLst>
          </p:cNvPr>
          <p:cNvSpPr>
            <a:spLocks xmlns:a="http://schemas.openxmlformats.org/drawingml/2006/main" noGrp="1"/>
          </p:cNvSpPr>
          <p:nvPr/>
        </p:nvSpPr>
        <p:spPr>
          <a:xfrm xmlns:a="http://schemas.openxmlformats.org/drawingml/2006/main">
            <a:off x="762000" y="16668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00:00</a:t>
            </a:r>
          </a:p>
        </p:txBody>
      </p:sp>
      <p:sp>
        <p:nvSpPr>
          <p:cNvPr id="4" name="text-90">
            <a:extLst xmlns:a="http://schemas.openxmlformats.org/drawingml/2006/main">
              <a:ext uri="{FF2B5EF4-FFF2-40B4-BE49-F238E27FC236}">
                <a16:creationId xmlns:a16="http://schemas.microsoft.com/office/drawing/2014/main" id="{5D54935D-9D34-4572-A7BE-E67C6AE330E3}"/>
              </a:ext>
            </a:extLst>
          </p:cNvPr>
          <p:cNvSpPr>
            <a:spLocks xmlns:a="http://schemas.openxmlformats.org/drawingml/2006/main" noGrp="1"/>
          </p:cNvSpPr>
          <p:nvPr/>
        </p:nvSpPr>
        <p:spPr>
          <a:xfrm xmlns:a="http://schemas.openxmlformats.org/drawingml/2006/main">
            <a:off x="2286000" y="16668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Today and goals</a:t>
            </a:r>
          </a:p>
        </p:txBody>
      </p:sp>
      <p:sp>
        <p:nvSpPr>
          <p:cNvPr id="5" name="text-91">
            <a:extLst xmlns:a="http://schemas.openxmlformats.org/drawingml/2006/main">
              <a:ext uri="{FF2B5EF4-FFF2-40B4-BE49-F238E27FC236}">
                <a16:creationId xmlns:a16="http://schemas.microsoft.com/office/drawing/2014/main" id="{E040DB97-5F53-4A6A-85CE-32870FDE5943}"/>
              </a:ext>
            </a:extLst>
          </p:cNvPr>
          <p:cNvSpPr>
            <a:spLocks xmlns:a="http://schemas.openxmlformats.org/drawingml/2006/main" noGrp="1"/>
          </p:cNvSpPr>
          <p:nvPr/>
        </p:nvSpPr>
        <p:spPr>
          <a:xfrm xmlns:a="http://schemas.openxmlformats.org/drawingml/2006/main">
            <a:off x="6762750" y="16668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Show the actual starting state.</a:t>
            </a:r>
          </a:p>
        </p:txBody>
      </p:sp>
      <p:sp>
        <p:nvSpPr>
          <p:cNvPr id="6" name="text-92">
            <a:extLst xmlns:a="http://schemas.openxmlformats.org/drawingml/2006/main">
              <a:ext uri="{FF2B5EF4-FFF2-40B4-BE49-F238E27FC236}">
                <a16:creationId xmlns:a16="http://schemas.microsoft.com/office/drawing/2014/main" id="{13F6D127-8F9A-41D9-AFB8-59AFB204DFFA}"/>
              </a:ext>
            </a:extLst>
          </p:cNvPr>
          <p:cNvSpPr>
            <a:spLocks xmlns:a="http://schemas.openxmlformats.org/drawingml/2006/main" noGrp="1"/>
          </p:cNvSpPr>
          <p:nvPr/>
        </p:nvSpPr>
        <p:spPr>
          <a:xfrm xmlns:a="http://schemas.openxmlformats.org/drawingml/2006/main">
            <a:off x="762000" y="25050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00:15</a:t>
            </a:r>
          </a:p>
        </p:txBody>
      </p:sp>
      <p:sp>
        <p:nvSpPr>
          <p:cNvPr id="7" name="text-93">
            <a:extLst xmlns:a="http://schemas.openxmlformats.org/drawingml/2006/main">
              <a:ext uri="{FF2B5EF4-FFF2-40B4-BE49-F238E27FC236}">
                <a16:creationId xmlns:a16="http://schemas.microsoft.com/office/drawing/2014/main" id="{BAC7FCB9-6AC3-4F6B-BCF4-112008F2BF8A}"/>
              </a:ext>
            </a:extLst>
          </p:cNvPr>
          <p:cNvSpPr>
            <a:spLocks xmlns:a="http://schemas.openxmlformats.org/drawingml/2006/main" noGrp="1"/>
          </p:cNvSpPr>
          <p:nvPr/>
        </p:nvSpPr>
        <p:spPr>
          <a:xfrm xmlns:a="http://schemas.openxmlformats.org/drawingml/2006/main">
            <a:off x="2286000" y="25050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A tracked workout</a:t>
            </a:r>
          </a:p>
        </p:txBody>
      </p:sp>
      <p:sp>
        <p:nvSpPr>
          <p:cNvPr id="8" name="text-94">
            <a:extLst xmlns:a="http://schemas.openxmlformats.org/drawingml/2006/main">
              <a:ext uri="{FF2B5EF4-FFF2-40B4-BE49-F238E27FC236}">
                <a16:creationId xmlns:a16="http://schemas.microsoft.com/office/drawing/2014/main" id="{6DF2B053-2FC2-4F23-A0F2-611C8AB0058D}"/>
              </a:ext>
            </a:extLst>
          </p:cNvPr>
          <p:cNvSpPr>
            <a:spLocks xmlns:a="http://schemas.openxmlformats.org/drawingml/2006/main" noGrp="1"/>
          </p:cNvSpPr>
          <p:nvPr/>
        </p:nvSpPr>
        <p:spPr>
          <a:xfrm xmlns:a="http://schemas.openxmlformats.org/drawingml/2006/main">
            <a:off x="6762750" y="25050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Show the camera path and visible cue. Label any fixture.</a:t>
            </a:r>
          </a:p>
        </p:txBody>
      </p:sp>
      <p:sp>
        <p:nvSpPr>
          <p:cNvPr id="9" name="text-95">
            <a:extLst xmlns:a="http://schemas.openxmlformats.org/drawingml/2006/main">
              <a:ext uri="{FF2B5EF4-FFF2-40B4-BE49-F238E27FC236}">
                <a16:creationId xmlns:a16="http://schemas.microsoft.com/office/drawing/2014/main" id="{971525A5-E2EE-4720-8780-1D53EB81A876}"/>
              </a:ext>
            </a:extLst>
          </p:cNvPr>
          <p:cNvSpPr>
            <a:spLocks xmlns:a="http://schemas.openxmlformats.org/drawingml/2006/main" noGrp="1"/>
          </p:cNvSpPr>
          <p:nvPr/>
        </p:nvSpPr>
        <p:spPr>
          <a:xfrm xmlns:a="http://schemas.openxmlformats.org/drawingml/2006/main">
            <a:off x="762000" y="33432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00:55</a:t>
            </a:r>
          </a:p>
        </p:txBody>
      </p:sp>
      <p:sp>
        <p:nvSpPr>
          <p:cNvPr id="10" name="text-96">
            <a:extLst xmlns:a="http://schemas.openxmlformats.org/drawingml/2006/main">
              <a:ext uri="{FF2B5EF4-FFF2-40B4-BE49-F238E27FC236}">
                <a16:creationId xmlns:a16="http://schemas.microsoft.com/office/drawing/2014/main" id="{8B603871-B07E-4031-A33D-C6302F572594}"/>
              </a:ext>
            </a:extLst>
          </p:cNvPr>
          <p:cNvSpPr>
            <a:spLocks xmlns:a="http://schemas.openxmlformats.org/drawingml/2006/main" noGrp="1"/>
          </p:cNvSpPr>
          <p:nvPr/>
        </p:nvSpPr>
        <p:spPr>
          <a:xfrm xmlns:a="http://schemas.openxmlformats.org/drawingml/2006/main">
            <a:off x="2286000" y="33432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Pause, end and review</a:t>
            </a:r>
          </a:p>
        </p:txBody>
      </p:sp>
      <p:sp>
        <p:nvSpPr>
          <p:cNvPr id="11" name="text-97">
            <a:extLst xmlns:a="http://schemas.openxmlformats.org/drawingml/2006/main">
              <a:ext uri="{FF2B5EF4-FFF2-40B4-BE49-F238E27FC236}">
                <a16:creationId xmlns:a16="http://schemas.microsoft.com/office/drawing/2014/main" id="{27490423-BFB5-4EF4-8D8D-A75C6D06D95B}"/>
              </a:ext>
            </a:extLst>
          </p:cNvPr>
          <p:cNvSpPr>
            <a:spLocks xmlns:a="http://schemas.openxmlformats.org/drawingml/2006/main" noGrp="1"/>
          </p:cNvSpPr>
          <p:nvPr/>
        </p:nvSpPr>
        <p:spPr>
          <a:xfrm xmlns:a="http://schemas.openxmlformats.org/drawingml/2006/main">
            <a:off x="6762750" y="33432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Keep controls available and preserve source labels.</a:t>
            </a:r>
          </a:p>
        </p:txBody>
      </p:sp>
      <p:sp>
        <p:nvSpPr>
          <p:cNvPr id="12" name="text-98">
            <a:extLst xmlns:a="http://schemas.openxmlformats.org/drawingml/2006/main">
              <a:ext uri="{FF2B5EF4-FFF2-40B4-BE49-F238E27FC236}">
                <a16:creationId xmlns:a16="http://schemas.microsoft.com/office/drawing/2014/main" id="{7F504845-4F07-4A1C-8173-D0EC5A385006}"/>
              </a:ext>
            </a:extLst>
          </p:cNvPr>
          <p:cNvSpPr>
            <a:spLocks xmlns:a="http://schemas.openxmlformats.org/drawingml/2006/main" noGrp="1"/>
          </p:cNvSpPr>
          <p:nvPr/>
        </p:nvSpPr>
        <p:spPr>
          <a:xfrm xmlns:a="http://schemas.openxmlformats.org/drawingml/2006/main">
            <a:off x="762000" y="41814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01:20</a:t>
            </a:r>
          </a:p>
        </p:txBody>
      </p:sp>
      <p:sp>
        <p:nvSpPr>
          <p:cNvPr id="13" name="text-99">
            <a:extLst xmlns:a="http://schemas.openxmlformats.org/drawingml/2006/main">
              <a:ext uri="{FF2B5EF4-FFF2-40B4-BE49-F238E27FC236}">
                <a16:creationId xmlns:a16="http://schemas.microsoft.com/office/drawing/2014/main" id="{C59CC5FD-D02B-44D6-BEBC-AEB0C44B6675}"/>
              </a:ext>
            </a:extLst>
          </p:cNvPr>
          <p:cNvSpPr>
            <a:spLocks xmlns:a="http://schemas.openxmlformats.org/drawingml/2006/main" noGrp="1"/>
          </p:cNvSpPr>
          <p:nvPr/>
        </p:nvSpPr>
        <p:spPr>
          <a:xfrm xmlns:a="http://schemas.openxmlformats.org/drawingml/2006/main">
            <a:off x="2286000" y="41814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Skills and Coach</a:t>
            </a:r>
          </a:p>
        </p:txBody>
      </p:sp>
      <p:sp>
        <p:nvSpPr>
          <p:cNvPr id="14" name="text-100">
            <a:extLst xmlns:a="http://schemas.openxmlformats.org/drawingml/2006/main">
              <a:ext uri="{FF2B5EF4-FFF2-40B4-BE49-F238E27FC236}">
                <a16:creationId xmlns:a16="http://schemas.microsoft.com/office/drawing/2014/main" id="{4FDC87A8-8898-4AFE-B05D-776AF0B67433}"/>
              </a:ext>
            </a:extLst>
          </p:cNvPr>
          <p:cNvSpPr>
            <a:spLocks xmlns:a="http://schemas.openxmlformats.org/drawingml/2006/main" noGrp="1"/>
          </p:cNvSpPr>
          <p:nvPr/>
        </p:nvSpPr>
        <p:spPr>
          <a:xfrm xmlns:a="http://schemas.openxmlformats.org/drawingml/2006/main">
            <a:off x="6762750" y="41814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Show prerequisites, then an explicit request action.</a:t>
            </a:r>
          </a:p>
        </p:txBody>
      </p:sp>
      <p:sp>
        <p:nvSpPr>
          <p:cNvPr id="15" name="text-101">
            <a:extLst xmlns:a="http://schemas.openxmlformats.org/drawingml/2006/main">
              <a:ext uri="{FF2B5EF4-FFF2-40B4-BE49-F238E27FC236}">
                <a16:creationId xmlns:a16="http://schemas.microsoft.com/office/drawing/2014/main" id="{63C7D949-2BE7-4620-859F-0E3C8ED98AE1}"/>
              </a:ext>
            </a:extLst>
          </p:cNvPr>
          <p:cNvSpPr>
            <a:spLocks xmlns:a="http://schemas.openxmlformats.org/drawingml/2006/main" noGrp="1"/>
          </p:cNvSpPr>
          <p:nvPr/>
        </p:nvSpPr>
        <p:spPr>
          <a:xfrm xmlns:a="http://schemas.openxmlformats.org/drawingml/2006/main">
            <a:off x="762000" y="50196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01:45</a:t>
            </a:r>
          </a:p>
        </p:txBody>
      </p:sp>
      <p:sp>
        <p:nvSpPr>
          <p:cNvPr id="16" name="text-102">
            <a:extLst xmlns:a="http://schemas.openxmlformats.org/drawingml/2006/main">
              <a:ext uri="{FF2B5EF4-FFF2-40B4-BE49-F238E27FC236}">
                <a16:creationId xmlns:a16="http://schemas.microsoft.com/office/drawing/2014/main" id="{B636AC58-D030-471F-B04C-D4A2B46F09FE}"/>
              </a:ext>
            </a:extLst>
          </p:cNvPr>
          <p:cNvSpPr>
            <a:spLocks xmlns:a="http://schemas.openxmlformats.org/drawingml/2006/main" noGrp="1"/>
          </p:cNvSpPr>
          <p:nvPr/>
        </p:nvSpPr>
        <p:spPr>
          <a:xfrm xmlns:a="http://schemas.openxmlformats.org/drawingml/2006/main">
            <a:off x="2286000" y="50196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Evidence and next gates</a:t>
            </a:r>
          </a:p>
        </p:txBody>
      </p:sp>
      <p:sp>
        <p:nvSpPr>
          <p:cNvPr id="17" name="text-103">
            <a:extLst xmlns:a="http://schemas.openxmlformats.org/drawingml/2006/main">
              <a:ext uri="{FF2B5EF4-FFF2-40B4-BE49-F238E27FC236}">
                <a16:creationId xmlns:a16="http://schemas.microsoft.com/office/drawing/2014/main" id="{EDBCD675-5554-40F1-987B-0D23CF88C7E2}"/>
              </a:ext>
            </a:extLst>
          </p:cNvPr>
          <p:cNvSpPr>
            <a:spLocks xmlns:a="http://schemas.openxmlformats.org/drawingml/2006/main" noGrp="1"/>
          </p:cNvSpPr>
          <p:nvPr/>
        </p:nvSpPr>
        <p:spPr>
          <a:xfrm xmlns:a="http://schemas.openxmlformats.org/drawingml/2006/main">
            <a:off x="6762750" y="50196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Use the saved HR result and current provider status.</a:t>
            </a:r>
          </a:p>
        </p:txBody>
      </p:sp>
      <p:sp>
        <p:nvSpPr>
          <p:cNvPr id="18" name="text-104">
            <a:extLst xmlns:a="http://schemas.openxmlformats.org/drawingml/2006/main">
              <a:ext uri="{FF2B5EF4-FFF2-40B4-BE49-F238E27FC236}">
                <a16:creationId xmlns:a16="http://schemas.microsoft.com/office/drawing/2014/main" id="{A19C3B2B-EF38-439E-A3A3-8CA93E5AF5DB}"/>
              </a:ext>
            </a:extLst>
          </p:cNvPr>
          <p:cNvSpPr>
            <a:spLocks xmlns:a="http://schemas.openxmlformats.org/drawingml/2006/main" noGrp="1"/>
          </p:cNvSpPr>
          <p:nvPr/>
        </p:nvSpPr>
        <p:spPr>
          <a:xfrm xmlns:a="http://schemas.openxmlformats.org/drawingml/2006/main">
            <a:off x="762000" y="6048375"/>
            <a:ext cx="10096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560"/>
                </a:solidFill>
                <a:latin typeface="Helvetica Neue"/>
                <a:ea typeface="Helvetica Neue"/>
                <a:cs typeface="Helvetica Neue"/>
              </a:defRPr>
            </a:defPPr>
            <a:lvl1pPr>
              <a:defRPr sz="1800" b="0">
                <a:solidFill>
                  <a:srgbClr val="5D6560"/>
                </a:solidFill>
                <a:latin typeface="Helvetica Neue"/>
                <a:ea typeface="Helvetica Neue"/>
                <a:cs typeface="Helvetica Neue"/>
              </a:defRPr>
            </a:lvl1pPr>
            <a:lvl2pPr>
              <a:defRPr sz="1800" b="0">
                <a:solidFill>
                  <a:srgbClr val="5D6560"/>
                </a:solidFill>
                <a:latin typeface="Helvetica Neue"/>
                <a:ea typeface="Helvetica Neue"/>
                <a:cs typeface="Helvetica Neue"/>
              </a:defRPr>
            </a:lvl2pPr>
            <a:lvl3pPr>
              <a:defRPr sz="1800" b="0">
                <a:solidFill>
                  <a:srgbClr val="5D6560"/>
                </a:solidFill>
                <a:latin typeface="Helvetica Neue"/>
                <a:ea typeface="Helvetica Neue"/>
                <a:cs typeface="Helvetica Neue"/>
              </a:defRPr>
            </a:lvl3pPr>
            <a:lvl4pPr>
              <a:defRPr sz="1800" b="0">
                <a:solidFill>
                  <a:srgbClr val="5D6560"/>
                </a:solidFill>
                <a:latin typeface="Helvetica Neue"/>
                <a:ea typeface="Helvetica Neue"/>
                <a:cs typeface="Helvetica Neue"/>
              </a:defRPr>
            </a:lvl4pPr>
            <a:lvl5pPr>
              <a:defRPr sz="1800" b="0">
                <a:solidFill>
                  <a:srgbClr val="5D6560"/>
                </a:solidFill>
                <a:latin typeface="Helvetica Neue"/>
                <a:ea typeface="Helvetica Neue"/>
                <a:cs typeface="Helvetica Neue"/>
              </a:defRPr>
            </a:lvl5pPr>
            <a:lvl6pPr>
              <a:defRPr sz="1800" b="0">
                <a:solidFill>
                  <a:srgbClr val="5D6560"/>
                </a:solidFill>
                <a:latin typeface="Helvetica Neue"/>
                <a:ea typeface="Helvetica Neue"/>
                <a:cs typeface="Helvetica Neue"/>
              </a:defRPr>
            </a:lvl6pPr>
            <a:lvl7pPr>
              <a:defRPr sz="1800" b="0">
                <a:solidFill>
                  <a:srgbClr val="5D6560"/>
                </a:solidFill>
                <a:latin typeface="Helvetica Neue"/>
                <a:ea typeface="Helvetica Neue"/>
                <a:cs typeface="Helvetica Neue"/>
              </a:defRPr>
            </a:lvl7pPr>
            <a:lvl8pPr>
              <a:defRPr sz="1800" b="0">
                <a:solidFill>
                  <a:srgbClr val="5D6560"/>
                </a:solidFill>
                <a:latin typeface="Helvetica Neue"/>
                <a:ea typeface="Helvetica Neue"/>
                <a:cs typeface="Helvetica Neue"/>
              </a:defRPr>
            </a:lvl8pPr>
            <a:lvl9pPr>
              <a:defRPr sz="1800" b="0">
                <a:solidFill>
                  <a:srgbClr val="5D6560"/>
                </a:solidFill>
                <a:latin typeface="Helvetica Neue"/>
                <a:ea typeface="Helvetica Neue"/>
                <a:cs typeface="Helvetica Neue"/>
              </a:defRPr>
            </a:lvl9pPr>
          </a:lstStyle>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TestFlight: builds 1 + 2 + 3 internal; builds 1 + 3 external.</a:t>
            </a:r>
          </a:p>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Build 3 beta review approved. Physical installs unverified.</a:t>
            </a:r>
          </a:p>
        </p:txBody>
      </p:sp>
    </p:spTree>
    <p:extLst>
      <p:ext uri="{BB962C8B-B14F-4D97-AF65-F5344CB8AC3E}">
        <p14:creationId xmlns:p14="http://schemas.microsoft.com/office/powerpoint/2010/main" val="11469269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2026-10-25T00:38:33.4350000Z</dcterms:created>
  <dcterms:modified xsi:type="dcterms:W3CDTF">2026-10-25T00:38:33.4350000Z</dcterms:modified>
</coreProperties>
</file>